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Monument Ultra-Bold" charset="1" panose="00000300000000000000"/>
      <p:regular r:id="rId15"/>
    </p:embeddedFont>
    <p:embeddedFont>
      <p:font typeface="Telegraf Bold" charset="1" panose="00000800000000000000"/>
      <p:regular r:id="rId16"/>
    </p:embeddedFont>
    <p:embeddedFont>
      <p:font typeface="Telegraf Medium" charset="1" panose="00000600000000000000"/>
      <p:regular r:id="rId17"/>
    </p:embeddedFont>
    <p:embeddedFont>
      <p:font typeface="Telegraf" charset="1" panose="00000500000000000000"/>
      <p:regular r:id="rId18"/>
    </p:embeddedFont>
    <p:embeddedFont>
      <p:font typeface="DM Sans Bold" charset="1" panose="00000000000000000000"/>
      <p:regular r:id="rId19"/>
    </p:embeddedFont>
    <p:embeddedFont>
      <p:font typeface="DM Sans" charset="1" panose="00000000000000000000"/>
      <p:regular r:id="rId20"/>
    </p:embeddedFont>
    <p:embeddedFont>
      <p:font typeface="Open Sauce" charset="1" panose="00000500000000000000"/>
      <p:regular r:id="rId21"/>
    </p:embeddedFont>
    <p:embeddedFont>
      <p:font typeface="Open Sauce Bold" charset="1" panose="00000800000000000000"/>
      <p:regular r:id="rId22"/>
    </p:embeddedFont>
    <p:embeddedFont>
      <p:font typeface="Cy Grotesk Key Semi-Bold" charset="1" panose="000007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28.png" Type="http://schemas.openxmlformats.org/officeDocument/2006/relationships/image"/><Relationship Id="rId13" Target="../media/image29.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36.png" Type="http://schemas.openxmlformats.org/officeDocument/2006/relationships/image"/><Relationship Id="rId15" Target="../media/image37.svg" Type="http://schemas.openxmlformats.org/officeDocument/2006/relationships/image"/><Relationship Id="rId16" Target="../media/image38.png" Type="http://schemas.openxmlformats.org/officeDocument/2006/relationships/image"/><Relationship Id="rId17" Target="../media/image39.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42.png" Type="http://schemas.openxmlformats.org/officeDocument/2006/relationships/image"/><Relationship Id="rId15" Target="../media/image43.svg" Type="http://schemas.openxmlformats.org/officeDocument/2006/relationships/image"/><Relationship Id="rId16" Target="../media/image44.png" Type="http://schemas.openxmlformats.org/officeDocument/2006/relationships/image"/><Relationship Id="rId17" Target="../media/image45.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48.png" Type="http://schemas.openxmlformats.org/officeDocument/2006/relationships/image"/><Relationship Id="rId15" Target="../media/image49.svg" Type="http://schemas.openxmlformats.org/officeDocument/2006/relationships/image"/><Relationship Id="rId16" Target="../media/image50.png" Type="http://schemas.openxmlformats.org/officeDocument/2006/relationships/image"/><Relationship Id="rId17" Target="../media/image51.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52.png" Type="http://schemas.openxmlformats.org/officeDocument/2006/relationships/image"/><Relationship Id="rId13" Target="../media/image53.svg" Type="http://schemas.openxmlformats.org/officeDocument/2006/relationships/image"/><Relationship Id="rId14" Target="../media/image54.png" Type="http://schemas.openxmlformats.org/officeDocument/2006/relationships/image"/><Relationship Id="rId15" Target="../media/image55.svg" Type="http://schemas.openxmlformats.org/officeDocument/2006/relationships/image"/><Relationship Id="rId16" Target="../media/image56.png" Type="http://schemas.openxmlformats.org/officeDocument/2006/relationships/image"/><Relationship Id="rId17" Target="../media/image57.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png" Type="http://schemas.openxmlformats.org/officeDocument/2006/relationships/image"/><Relationship Id="rId12" Target="../media/image66.png" Type="http://schemas.openxmlformats.org/officeDocument/2006/relationships/image"/><Relationship Id="rId13" Target="../media/image67.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svg" Type="http://schemas.openxmlformats.org/officeDocument/2006/relationships/image"/><Relationship Id="rId12" Target="../media/image72.png" Type="http://schemas.openxmlformats.org/officeDocument/2006/relationships/image"/><Relationship Id="rId13" Target="../media/image73.svg" Type="http://schemas.openxmlformats.org/officeDocument/2006/relationships/image"/><Relationship Id="rId14" Target="../media/image74.png" Type="http://schemas.openxmlformats.org/officeDocument/2006/relationships/image"/><Relationship Id="rId15" Target="../media/image75.svg" Type="http://schemas.openxmlformats.org/officeDocument/2006/relationships/image"/><Relationship Id="rId16" Target="../media/image76.png" Type="http://schemas.openxmlformats.org/officeDocument/2006/relationships/image"/><Relationship Id="rId17" Target="../media/image77.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68.png" Type="http://schemas.openxmlformats.org/officeDocument/2006/relationships/image"/><Relationship Id="rId9" Target="../media/image6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sp>
        <p:nvSpPr>
          <p:cNvPr name="Freeform 2" id="2"/>
          <p:cNvSpPr/>
          <p:nvPr/>
        </p:nvSpPr>
        <p:spPr>
          <a:xfrm flipH="false" flipV="false" rot="0">
            <a:off x="-708803" y="3003034"/>
            <a:ext cx="5063428" cy="2918376"/>
          </a:xfrm>
          <a:custGeom>
            <a:avLst/>
            <a:gdLst/>
            <a:ahLst/>
            <a:cxnLst/>
            <a:rect r="r" b="b" t="t" l="l"/>
            <a:pathLst>
              <a:path h="2918376" w="5063428">
                <a:moveTo>
                  <a:pt x="0" y="0"/>
                </a:moveTo>
                <a:lnTo>
                  <a:pt x="5063428" y="0"/>
                </a:lnTo>
                <a:lnTo>
                  <a:pt x="5063428" y="2918376"/>
                </a:lnTo>
                <a:lnTo>
                  <a:pt x="0" y="2918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3858430" y="4379184"/>
            <a:ext cx="5063428" cy="2918376"/>
          </a:xfrm>
          <a:custGeom>
            <a:avLst/>
            <a:gdLst/>
            <a:ahLst/>
            <a:cxnLst/>
            <a:rect r="r" b="b" t="t" l="l"/>
            <a:pathLst>
              <a:path h="2918376" w="5063428">
                <a:moveTo>
                  <a:pt x="0" y="2918375"/>
                </a:moveTo>
                <a:lnTo>
                  <a:pt x="5063428" y="2918375"/>
                </a:lnTo>
                <a:lnTo>
                  <a:pt x="5063428" y="0"/>
                </a:lnTo>
                <a:lnTo>
                  <a:pt x="0" y="0"/>
                </a:lnTo>
                <a:lnTo>
                  <a:pt x="0" y="2918375"/>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130948">
            <a:off x="3084245" y="4422188"/>
            <a:ext cx="12170015" cy="1918074"/>
            <a:chOff x="0" y="0"/>
            <a:chExt cx="3764250" cy="593271"/>
          </a:xfrm>
        </p:grpSpPr>
        <p:sp>
          <p:nvSpPr>
            <p:cNvPr name="Freeform 5" id="5"/>
            <p:cNvSpPr/>
            <p:nvPr/>
          </p:nvSpPr>
          <p:spPr>
            <a:xfrm flipH="false" flipV="false" rot="0">
              <a:off x="0" y="0"/>
              <a:ext cx="3764250" cy="593271"/>
            </a:xfrm>
            <a:custGeom>
              <a:avLst/>
              <a:gdLst/>
              <a:ahLst/>
              <a:cxnLst/>
              <a:rect r="r" b="b" t="t" l="l"/>
              <a:pathLst>
                <a:path h="593271" w="3764250">
                  <a:moveTo>
                    <a:pt x="0" y="0"/>
                  </a:moveTo>
                  <a:lnTo>
                    <a:pt x="3764250" y="0"/>
                  </a:lnTo>
                  <a:lnTo>
                    <a:pt x="3764250" y="593271"/>
                  </a:lnTo>
                  <a:lnTo>
                    <a:pt x="0" y="593271"/>
                  </a:lnTo>
                  <a:close/>
                </a:path>
              </a:pathLst>
            </a:custGeom>
            <a:solidFill>
              <a:srgbClr val="C1F52F"/>
            </a:solidFill>
          </p:spPr>
        </p:sp>
        <p:sp>
          <p:nvSpPr>
            <p:cNvPr name="TextBox 6" id="6"/>
            <p:cNvSpPr txBox="true"/>
            <p:nvPr/>
          </p:nvSpPr>
          <p:spPr>
            <a:xfrm>
              <a:off x="0" y="-76200"/>
              <a:ext cx="3764250" cy="669471"/>
            </a:xfrm>
            <a:prstGeom prst="rect">
              <a:avLst/>
            </a:prstGeom>
          </p:spPr>
          <p:txBody>
            <a:bodyPr anchor="ctr" rtlCol="false" tIns="50800" lIns="50800" bIns="50800" rIns="50800"/>
            <a:lstStyle/>
            <a:p>
              <a:pPr algn="ctr">
                <a:lnSpc>
                  <a:spcPts val="3123"/>
                </a:lnSpc>
              </a:pPr>
            </a:p>
          </p:txBody>
        </p:sp>
      </p:grpSp>
      <p:grpSp>
        <p:nvGrpSpPr>
          <p:cNvPr name="Group 7" id="7"/>
          <p:cNvGrpSpPr/>
          <p:nvPr/>
        </p:nvGrpSpPr>
        <p:grpSpPr>
          <a:xfrm rot="79525">
            <a:off x="4834239" y="6380061"/>
            <a:ext cx="8548356" cy="886571"/>
            <a:chOff x="0" y="0"/>
            <a:chExt cx="2493723" cy="258630"/>
          </a:xfrm>
        </p:grpSpPr>
        <p:sp>
          <p:nvSpPr>
            <p:cNvPr name="Freeform 8" id="8"/>
            <p:cNvSpPr/>
            <p:nvPr/>
          </p:nvSpPr>
          <p:spPr>
            <a:xfrm flipH="false" flipV="false" rot="0">
              <a:off x="0" y="0"/>
              <a:ext cx="2493723" cy="258630"/>
            </a:xfrm>
            <a:custGeom>
              <a:avLst/>
              <a:gdLst/>
              <a:ahLst/>
              <a:cxnLst/>
              <a:rect r="r" b="b" t="t" l="l"/>
              <a:pathLst>
                <a:path h="258630" w="2493723">
                  <a:moveTo>
                    <a:pt x="0" y="0"/>
                  </a:moveTo>
                  <a:lnTo>
                    <a:pt x="2493723" y="0"/>
                  </a:lnTo>
                  <a:lnTo>
                    <a:pt x="2493723" y="258630"/>
                  </a:lnTo>
                  <a:lnTo>
                    <a:pt x="0" y="258630"/>
                  </a:lnTo>
                  <a:close/>
                </a:path>
              </a:pathLst>
            </a:custGeom>
            <a:solidFill>
              <a:srgbClr val="44242D"/>
            </a:solidFill>
          </p:spPr>
        </p:sp>
        <p:sp>
          <p:nvSpPr>
            <p:cNvPr name="TextBox 9" id="9"/>
            <p:cNvSpPr txBox="true"/>
            <p:nvPr/>
          </p:nvSpPr>
          <p:spPr>
            <a:xfrm>
              <a:off x="0" y="-76200"/>
              <a:ext cx="2493723" cy="334830"/>
            </a:xfrm>
            <a:prstGeom prst="rect">
              <a:avLst/>
            </a:prstGeom>
          </p:spPr>
          <p:txBody>
            <a:bodyPr anchor="ctr" rtlCol="false" tIns="50800" lIns="50800" bIns="50800" rIns="50800"/>
            <a:lstStyle/>
            <a:p>
              <a:pPr algn="ctr">
                <a:lnSpc>
                  <a:spcPts val="3123"/>
                </a:lnSpc>
              </a:pPr>
            </a:p>
          </p:txBody>
        </p:sp>
      </p:grpSp>
      <p:sp>
        <p:nvSpPr>
          <p:cNvPr name="Freeform 10" id="10"/>
          <p:cNvSpPr/>
          <p:nvPr/>
        </p:nvSpPr>
        <p:spPr>
          <a:xfrm flipH="false" flipV="false" rot="0">
            <a:off x="4936930" y="6122754"/>
            <a:ext cx="194631" cy="627843"/>
          </a:xfrm>
          <a:custGeom>
            <a:avLst/>
            <a:gdLst/>
            <a:ahLst/>
            <a:cxnLst/>
            <a:rect r="r" b="b" t="t" l="l"/>
            <a:pathLst>
              <a:path h="627843" w="194631">
                <a:moveTo>
                  <a:pt x="0" y="0"/>
                </a:moveTo>
                <a:lnTo>
                  <a:pt x="194631" y="0"/>
                </a:lnTo>
                <a:lnTo>
                  <a:pt x="194631" y="627843"/>
                </a:lnTo>
                <a:lnTo>
                  <a:pt x="0" y="6278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822911" y="2604167"/>
            <a:ext cx="14642178" cy="2073719"/>
          </a:xfrm>
          <a:prstGeom prst="rect">
            <a:avLst/>
          </a:prstGeom>
        </p:spPr>
        <p:txBody>
          <a:bodyPr anchor="t" rtlCol="false" tIns="0" lIns="0" bIns="0" rIns="0">
            <a:spAutoFit/>
          </a:bodyPr>
          <a:lstStyle/>
          <a:p>
            <a:pPr algn="ctr">
              <a:lnSpc>
                <a:spcPts val="17081"/>
              </a:lnSpc>
              <a:spcBef>
                <a:spcPct val="0"/>
              </a:spcBef>
            </a:pPr>
            <a:r>
              <a:rPr lang="en-US" b="true" sz="12029" spc="-180">
                <a:solidFill>
                  <a:srgbClr val="44242D"/>
                </a:solidFill>
                <a:latin typeface="Monument Ultra-Bold"/>
                <a:ea typeface="Monument Ultra-Bold"/>
                <a:cs typeface="Monument Ultra-Bold"/>
                <a:sym typeface="Monument Ultra-Bold"/>
              </a:rPr>
              <a:t>HUSH-HUSH</a:t>
            </a:r>
          </a:p>
        </p:txBody>
      </p:sp>
      <p:sp>
        <p:nvSpPr>
          <p:cNvPr name="TextBox 12" id="12"/>
          <p:cNvSpPr txBox="true"/>
          <p:nvPr/>
        </p:nvSpPr>
        <p:spPr>
          <a:xfrm rot="-130948">
            <a:off x="3019783" y="4503024"/>
            <a:ext cx="12170015" cy="1566042"/>
          </a:xfrm>
          <a:prstGeom prst="rect">
            <a:avLst/>
          </a:prstGeom>
        </p:spPr>
        <p:txBody>
          <a:bodyPr anchor="t" rtlCol="false" tIns="0" lIns="0" bIns="0" rIns="0">
            <a:spAutoFit/>
          </a:bodyPr>
          <a:lstStyle/>
          <a:p>
            <a:pPr algn="ctr">
              <a:lnSpc>
                <a:spcPts val="12881"/>
              </a:lnSpc>
              <a:spcBef>
                <a:spcPct val="0"/>
              </a:spcBef>
            </a:pPr>
            <a:r>
              <a:rPr lang="en-US" b="true" sz="9071" spc="-136">
                <a:solidFill>
                  <a:srgbClr val="44242D"/>
                </a:solidFill>
                <a:latin typeface="Monument Ultra-Bold"/>
                <a:ea typeface="Monument Ultra-Bold"/>
                <a:cs typeface="Monument Ultra-Bold"/>
                <a:sym typeface="Monument Ultra-Bold"/>
              </a:rPr>
              <a:t>RECRUITMENT</a:t>
            </a:r>
          </a:p>
        </p:txBody>
      </p:sp>
      <p:sp>
        <p:nvSpPr>
          <p:cNvPr name="Freeform 13" id="13"/>
          <p:cNvSpPr/>
          <p:nvPr/>
        </p:nvSpPr>
        <p:spPr>
          <a:xfrm flipH="false" flipV="false" rot="0">
            <a:off x="14740364" y="5695244"/>
            <a:ext cx="949677" cy="754993"/>
          </a:xfrm>
          <a:custGeom>
            <a:avLst/>
            <a:gdLst/>
            <a:ahLst/>
            <a:cxnLst/>
            <a:rect r="r" b="b" t="t" l="l"/>
            <a:pathLst>
              <a:path h="754993" w="949677">
                <a:moveTo>
                  <a:pt x="0" y="0"/>
                </a:moveTo>
                <a:lnTo>
                  <a:pt x="949676" y="0"/>
                </a:lnTo>
                <a:lnTo>
                  <a:pt x="949676" y="754993"/>
                </a:lnTo>
                <a:lnTo>
                  <a:pt x="0" y="754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7951731">
            <a:off x="2237819" y="2564410"/>
            <a:ext cx="540718" cy="843225"/>
          </a:xfrm>
          <a:custGeom>
            <a:avLst/>
            <a:gdLst/>
            <a:ahLst/>
            <a:cxnLst/>
            <a:rect r="r" b="b" t="t" l="l"/>
            <a:pathLst>
              <a:path h="843225" w="540718">
                <a:moveTo>
                  <a:pt x="0" y="0"/>
                </a:moveTo>
                <a:lnTo>
                  <a:pt x="540718" y="0"/>
                </a:lnTo>
                <a:lnTo>
                  <a:pt x="540718" y="843225"/>
                </a:lnTo>
                <a:lnTo>
                  <a:pt x="0" y="8432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905658" y="2501791"/>
            <a:ext cx="2087934" cy="2087934"/>
          </a:xfrm>
          <a:custGeom>
            <a:avLst/>
            <a:gdLst/>
            <a:ahLst/>
            <a:cxnLst/>
            <a:rect r="r" b="b" t="t" l="l"/>
            <a:pathLst>
              <a:path h="2087934" w="2087934">
                <a:moveTo>
                  <a:pt x="0" y="0"/>
                </a:moveTo>
                <a:lnTo>
                  <a:pt x="2087934" y="0"/>
                </a:lnTo>
                <a:lnTo>
                  <a:pt x="2087934" y="2087934"/>
                </a:lnTo>
                <a:lnTo>
                  <a:pt x="0" y="2087934"/>
                </a:lnTo>
                <a:lnTo>
                  <a:pt x="0" y="0"/>
                </a:lnTo>
                <a:close/>
              </a:path>
            </a:pathLst>
          </a:custGeom>
          <a:blipFill>
            <a:blip r:embed="rId10">
              <a:alphaModFix amt="1500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238654" y="4971220"/>
            <a:ext cx="2356409" cy="2356409"/>
          </a:xfrm>
          <a:custGeom>
            <a:avLst/>
            <a:gdLst/>
            <a:ahLst/>
            <a:cxnLst/>
            <a:rect r="r" b="b" t="t" l="l"/>
            <a:pathLst>
              <a:path h="2356409" w="2356409">
                <a:moveTo>
                  <a:pt x="0" y="0"/>
                </a:moveTo>
                <a:lnTo>
                  <a:pt x="2356409" y="0"/>
                </a:lnTo>
                <a:lnTo>
                  <a:pt x="2356409" y="2356408"/>
                </a:lnTo>
                <a:lnTo>
                  <a:pt x="0" y="2356408"/>
                </a:lnTo>
                <a:lnTo>
                  <a:pt x="0" y="0"/>
                </a:lnTo>
                <a:close/>
              </a:path>
            </a:pathLst>
          </a:custGeom>
          <a:blipFill>
            <a:blip r:embed="rId10">
              <a:alphaModFix amt="1500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true" rot="1133308">
            <a:off x="8380641" y="7594685"/>
            <a:ext cx="1210176" cy="942425"/>
          </a:xfrm>
          <a:custGeom>
            <a:avLst/>
            <a:gdLst/>
            <a:ahLst/>
            <a:cxnLst/>
            <a:rect r="r" b="b" t="t" l="l"/>
            <a:pathLst>
              <a:path h="942425" w="1210176">
                <a:moveTo>
                  <a:pt x="0" y="942425"/>
                </a:moveTo>
                <a:lnTo>
                  <a:pt x="1210177" y="942425"/>
                </a:lnTo>
                <a:lnTo>
                  <a:pt x="1210177" y="0"/>
                </a:lnTo>
                <a:lnTo>
                  <a:pt x="0" y="0"/>
                </a:lnTo>
                <a:lnTo>
                  <a:pt x="0" y="94242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0">
            <a:off x="1058791" y="1145206"/>
            <a:ext cx="658986" cy="658986"/>
          </a:xfrm>
          <a:custGeom>
            <a:avLst/>
            <a:gdLst/>
            <a:ahLst/>
            <a:cxnLst/>
            <a:rect r="r" b="b" t="t" l="l"/>
            <a:pathLst>
              <a:path h="658986" w="658986">
                <a:moveTo>
                  <a:pt x="0" y="0"/>
                </a:moveTo>
                <a:lnTo>
                  <a:pt x="658985" y="0"/>
                </a:lnTo>
                <a:lnTo>
                  <a:pt x="658985" y="658985"/>
                </a:lnTo>
                <a:lnTo>
                  <a:pt x="0" y="65898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9" id="19"/>
          <p:cNvSpPr txBox="true"/>
          <p:nvPr/>
        </p:nvSpPr>
        <p:spPr>
          <a:xfrm rot="79525">
            <a:off x="4987838" y="6628061"/>
            <a:ext cx="8239282" cy="381000"/>
          </a:xfrm>
          <a:prstGeom prst="rect">
            <a:avLst/>
          </a:prstGeom>
        </p:spPr>
        <p:txBody>
          <a:bodyPr anchor="t" rtlCol="false" tIns="0" lIns="0" bIns="0" rIns="0">
            <a:spAutoFit/>
          </a:bodyPr>
          <a:lstStyle/>
          <a:p>
            <a:pPr algn="ctr">
              <a:lnSpc>
                <a:spcPts val="2699"/>
              </a:lnSpc>
            </a:pPr>
            <a:r>
              <a:rPr lang="en-US" b="true" sz="2499" spc="-82">
                <a:solidFill>
                  <a:srgbClr val="FFFBF7"/>
                </a:solidFill>
                <a:latin typeface="Telegraf Bold"/>
                <a:ea typeface="Telegraf Bold"/>
                <a:cs typeface="Telegraf Bold"/>
                <a:sym typeface="Telegraf Bold"/>
              </a:rPr>
              <a:t>REDEFINING RECRUITMENT SOLUTION</a:t>
            </a:r>
          </a:p>
        </p:txBody>
      </p:sp>
      <p:sp>
        <p:nvSpPr>
          <p:cNvPr name="TextBox 20" id="20"/>
          <p:cNvSpPr txBox="true"/>
          <p:nvPr/>
        </p:nvSpPr>
        <p:spPr>
          <a:xfrm rot="0">
            <a:off x="1028173" y="8897874"/>
            <a:ext cx="11413425" cy="360426"/>
          </a:xfrm>
          <a:prstGeom prst="rect">
            <a:avLst/>
          </a:prstGeom>
        </p:spPr>
        <p:txBody>
          <a:bodyPr anchor="t" rtlCol="false" tIns="0" lIns="0" bIns="0" rIns="0">
            <a:spAutoFit/>
          </a:bodyPr>
          <a:lstStyle/>
          <a:p>
            <a:pPr algn="l">
              <a:lnSpc>
                <a:spcPts val="2591"/>
              </a:lnSpc>
            </a:pPr>
            <a:r>
              <a:rPr lang="en-US" sz="2399" spc="-103" b="true">
                <a:solidFill>
                  <a:srgbClr val="44242D"/>
                </a:solidFill>
                <a:latin typeface="Telegraf Medium"/>
                <a:ea typeface="Telegraf Medium"/>
                <a:cs typeface="Telegraf Medium"/>
                <a:sym typeface="Telegraf Medium"/>
              </a:rPr>
              <a:t>Presented By : Tanuj Agarwal, Subodh Nadkar, Vinit Sharma, Vishnu Bhat, Jetra Vyas</a:t>
            </a:r>
          </a:p>
        </p:txBody>
      </p:sp>
      <p:sp>
        <p:nvSpPr>
          <p:cNvPr name="TextBox 21" id="21"/>
          <p:cNvSpPr txBox="true"/>
          <p:nvPr/>
        </p:nvSpPr>
        <p:spPr>
          <a:xfrm rot="0">
            <a:off x="14330745" y="8897874"/>
            <a:ext cx="2933522" cy="360426"/>
          </a:xfrm>
          <a:prstGeom prst="rect">
            <a:avLst/>
          </a:prstGeom>
        </p:spPr>
        <p:txBody>
          <a:bodyPr anchor="t" rtlCol="false" tIns="0" lIns="0" bIns="0" rIns="0">
            <a:spAutoFit/>
          </a:bodyPr>
          <a:lstStyle/>
          <a:p>
            <a:pPr algn="r">
              <a:lnSpc>
                <a:spcPts val="2591"/>
              </a:lnSpc>
            </a:pPr>
            <a:r>
              <a:rPr lang="en-US" sz="2399" spc="-103">
                <a:solidFill>
                  <a:srgbClr val="44242D"/>
                </a:solidFill>
                <a:latin typeface="Telegraf"/>
                <a:ea typeface="Telegraf"/>
                <a:cs typeface="Telegraf"/>
                <a:sym typeface="Telegraf"/>
              </a:rPr>
              <a:t>10 JUNE 2025</a:t>
            </a:r>
          </a:p>
        </p:txBody>
      </p:sp>
      <p:sp>
        <p:nvSpPr>
          <p:cNvPr name="TextBox 22" id="22"/>
          <p:cNvSpPr txBox="true"/>
          <p:nvPr/>
        </p:nvSpPr>
        <p:spPr>
          <a:xfrm rot="0">
            <a:off x="1822911" y="1310297"/>
            <a:ext cx="3002218" cy="360426"/>
          </a:xfrm>
          <a:prstGeom prst="rect">
            <a:avLst/>
          </a:prstGeom>
        </p:spPr>
        <p:txBody>
          <a:bodyPr anchor="t" rtlCol="false" tIns="0" lIns="0" bIns="0" rIns="0">
            <a:spAutoFit/>
          </a:bodyPr>
          <a:lstStyle/>
          <a:p>
            <a:pPr algn="l">
              <a:lnSpc>
                <a:spcPts val="2591"/>
              </a:lnSpc>
            </a:pPr>
            <a:r>
              <a:rPr lang="en-US" sz="2399" spc="-103" b="true">
                <a:solidFill>
                  <a:srgbClr val="44242D"/>
                </a:solidFill>
                <a:latin typeface="Telegraf Bold"/>
                <a:ea typeface="Telegraf Bold"/>
                <a:cs typeface="Telegraf Bold"/>
                <a:sym typeface="Telegraf Bold"/>
              </a:rPr>
              <a:t>Doodle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sp>
        <p:nvSpPr>
          <p:cNvPr name="Freeform 2" id="2"/>
          <p:cNvSpPr/>
          <p:nvPr/>
        </p:nvSpPr>
        <p:spPr>
          <a:xfrm flipH="false" flipV="false" rot="0">
            <a:off x="-4215878" y="-2119071"/>
            <a:ext cx="5244578" cy="3690276"/>
          </a:xfrm>
          <a:custGeom>
            <a:avLst/>
            <a:gdLst/>
            <a:ahLst/>
            <a:cxnLst/>
            <a:rect r="r" b="b" t="t" l="l"/>
            <a:pathLst>
              <a:path h="3690276" w="5244578">
                <a:moveTo>
                  <a:pt x="0" y="0"/>
                </a:moveTo>
                <a:lnTo>
                  <a:pt x="5244578" y="0"/>
                </a:lnTo>
                <a:lnTo>
                  <a:pt x="5244578" y="3690275"/>
                </a:lnTo>
                <a:lnTo>
                  <a:pt x="0" y="3690275"/>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506406">
            <a:off x="15759819" y="8838316"/>
            <a:ext cx="3277121" cy="2496570"/>
          </a:xfrm>
          <a:custGeom>
            <a:avLst/>
            <a:gdLst/>
            <a:ahLst/>
            <a:cxnLst/>
            <a:rect r="r" b="b" t="t" l="l"/>
            <a:pathLst>
              <a:path h="2496570" w="3277121">
                <a:moveTo>
                  <a:pt x="0" y="0"/>
                </a:moveTo>
                <a:lnTo>
                  <a:pt x="3277121" y="0"/>
                </a:lnTo>
                <a:lnTo>
                  <a:pt x="3277121" y="2496571"/>
                </a:lnTo>
                <a:lnTo>
                  <a:pt x="0" y="24965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1744203" y="7811888"/>
            <a:ext cx="5244578" cy="3690276"/>
          </a:xfrm>
          <a:custGeom>
            <a:avLst/>
            <a:gdLst/>
            <a:ahLst/>
            <a:cxnLst/>
            <a:rect r="r" b="b" t="t" l="l"/>
            <a:pathLst>
              <a:path h="3690276" w="5244578">
                <a:moveTo>
                  <a:pt x="5244578" y="3690276"/>
                </a:moveTo>
                <a:lnTo>
                  <a:pt x="0" y="3690276"/>
                </a:lnTo>
                <a:lnTo>
                  <a:pt x="0" y="0"/>
                </a:lnTo>
                <a:lnTo>
                  <a:pt x="5244578" y="0"/>
                </a:lnTo>
                <a:lnTo>
                  <a:pt x="5244578" y="3690276"/>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570397" y="2323703"/>
            <a:ext cx="7597194" cy="7653189"/>
          </a:xfrm>
          <a:custGeom>
            <a:avLst/>
            <a:gdLst/>
            <a:ahLst/>
            <a:cxnLst/>
            <a:rect r="r" b="b" t="t" l="l"/>
            <a:pathLst>
              <a:path h="7653189" w="7597194">
                <a:moveTo>
                  <a:pt x="0" y="0"/>
                </a:moveTo>
                <a:lnTo>
                  <a:pt x="7597193" y="0"/>
                </a:lnTo>
                <a:lnTo>
                  <a:pt x="7597193" y="7653189"/>
                </a:lnTo>
                <a:lnTo>
                  <a:pt x="0" y="7653189"/>
                </a:lnTo>
                <a:lnTo>
                  <a:pt x="0" y="0"/>
                </a:lnTo>
                <a:close/>
              </a:path>
            </a:pathLst>
          </a:custGeom>
          <a:blipFill>
            <a:blip r:embed="rId6"/>
            <a:stretch>
              <a:fillRect l="0" t="-41597" r="0" b="-19814"/>
            </a:stretch>
          </a:blipFill>
        </p:spPr>
      </p:sp>
      <p:sp>
        <p:nvSpPr>
          <p:cNvPr name="TextBox 6" id="6"/>
          <p:cNvSpPr txBox="true"/>
          <p:nvPr/>
        </p:nvSpPr>
        <p:spPr>
          <a:xfrm rot="0">
            <a:off x="1822911" y="1076245"/>
            <a:ext cx="2349904" cy="360426"/>
          </a:xfrm>
          <a:prstGeom prst="rect">
            <a:avLst/>
          </a:prstGeom>
        </p:spPr>
        <p:txBody>
          <a:bodyPr anchor="t" rtlCol="false" tIns="0" lIns="0" bIns="0" rIns="0">
            <a:spAutoFit/>
          </a:bodyPr>
          <a:lstStyle/>
          <a:p>
            <a:pPr algn="l">
              <a:lnSpc>
                <a:spcPts val="2591"/>
              </a:lnSpc>
            </a:pPr>
            <a:r>
              <a:rPr lang="en-US" sz="2399" spc="-103" b="true">
                <a:solidFill>
                  <a:srgbClr val="44242D"/>
                </a:solidFill>
                <a:latin typeface="Telegraf Bold"/>
                <a:ea typeface="Telegraf Bold"/>
                <a:cs typeface="Telegraf Bold"/>
                <a:sym typeface="Telegraf Bold"/>
              </a:rPr>
              <a:t>Doodle</a:t>
            </a:r>
          </a:p>
        </p:txBody>
      </p:sp>
      <p:sp>
        <p:nvSpPr>
          <p:cNvPr name="TextBox 7" id="7"/>
          <p:cNvSpPr txBox="true"/>
          <p:nvPr/>
        </p:nvSpPr>
        <p:spPr>
          <a:xfrm rot="0">
            <a:off x="242659" y="1923629"/>
            <a:ext cx="6858146" cy="1638300"/>
          </a:xfrm>
          <a:prstGeom prst="rect">
            <a:avLst/>
          </a:prstGeom>
        </p:spPr>
        <p:txBody>
          <a:bodyPr anchor="t" rtlCol="false" tIns="0" lIns="0" bIns="0" rIns="0">
            <a:spAutoFit/>
          </a:bodyPr>
          <a:lstStyle/>
          <a:p>
            <a:pPr algn="l">
              <a:lnSpc>
                <a:spcPts val="6300"/>
              </a:lnSpc>
            </a:pPr>
            <a:r>
              <a:rPr lang="en-US" sz="6000" b="true">
                <a:solidFill>
                  <a:srgbClr val="44242D"/>
                </a:solidFill>
                <a:latin typeface="DM Sans Bold"/>
                <a:ea typeface="DM Sans Bold"/>
                <a:cs typeface="DM Sans Bold"/>
                <a:sym typeface="DM Sans Bold"/>
              </a:rPr>
              <a:t>PROBLEM STATEMENT</a:t>
            </a:r>
          </a:p>
        </p:txBody>
      </p:sp>
      <p:grpSp>
        <p:nvGrpSpPr>
          <p:cNvPr name="Group 8" id="8"/>
          <p:cNvGrpSpPr/>
          <p:nvPr/>
        </p:nvGrpSpPr>
        <p:grpSpPr>
          <a:xfrm rot="0">
            <a:off x="4172815" y="1965033"/>
            <a:ext cx="3035408" cy="657177"/>
            <a:chOff x="0" y="0"/>
            <a:chExt cx="4047211" cy="876236"/>
          </a:xfrm>
        </p:grpSpPr>
        <p:grpSp>
          <p:nvGrpSpPr>
            <p:cNvPr name="Group 9" id="9"/>
            <p:cNvGrpSpPr/>
            <p:nvPr/>
          </p:nvGrpSpPr>
          <p:grpSpPr>
            <a:xfrm rot="0">
              <a:off x="0" y="0"/>
              <a:ext cx="4047211" cy="876236"/>
              <a:chOff x="0" y="0"/>
              <a:chExt cx="799449" cy="173084"/>
            </a:xfrm>
          </p:grpSpPr>
          <p:sp>
            <p:nvSpPr>
              <p:cNvPr name="Freeform 10" id="10"/>
              <p:cNvSpPr/>
              <p:nvPr/>
            </p:nvSpPr>
            <p:spPr>
              <a:xfrm flipH="false" flipV="false" rot="0">
                <a:off x="0" y="0"/>
                <a:ext cx="799449" cy="173084"/>
              </a:xfrm>
              <a:custGeom>
                <a:avLst/>
                <a:gdLst/>
                <a:ahLst/>
                <a:cxnLst/>
                <a:rect r="r" b="b" t="t" l="l"/>
                <a:pathLst>
                  <a:path h="173084" w="799449">
                    <a:moveTo>
                      <a:pt x="0" y="0"/>
                    </a:moveTo>
                    <a:lnTo>
                      <a:pt x="799449" y="0"/>
                    </a:lnTo>
                    <a:lnTo>
                      <a:pt x="799449" y="173084"/>
                    </a:lnTo>
                    <a:lnTo>
                      <a:pt x="0" y="173084"/>
                    </a:lnTo>
                    <a:close/>
                  </a:path>
                </a:pathLst>
              </a:custGeom>
              <a:solidFill>
                <a:srgbClr val="C1F52F"/>
              </a:solidFill>
            </p:spPr>
          </p:sp>
          <p:sp>
            <p:nvSpPr>
              <p:cNvPr name="TextBox 11" id="11"/>
              <p:cNvSpPr txBox="true"/>
              <p:nvPr/>
            </p:nvSpPr>
            <p:spPr>
              <a:xfrm>
                <a:off x="0" y="-76200"/>
                <a:ext cx="799449" cy="249284"/>
              </a:xfrm>
              <a:prstGeom prst="rect">
                <a:avLst/>
              </a:prstGeom>
            </p:spPr>
            <p:txBody>
              <a:bodyPr anchor="ctr" rtlCol="false" tIns="50800" lIns="50800" bIns="50800" rIns="50800"/>
              <a:lstStyle/>
              <a:p>
                <a:pPr algn="ctr">
                  <a:lnSpc>
                    <a:spcPts val="3123"/>
                  </a:lnSpc>
                </a:pPr>
              </a:p>
            </p:txBody>
          </p:sp>
        </p:grpSp>
        <p:sp>
          <p:nvSpPr>
            <p:cNvPr name="TextBox 12" id="12"/>
            <p:cNvSpPr txBox="true"/>
            <p:nvPr/>
          </p:nvSpPr>
          <p:spPr>
            <a:xfrm rot="0">
              <a:off x="144597" y="218916"/>
              <a:ext cx="3758016" cy="438404"/>
            </a:xfrm>
            <a:prstGeom prst="rect">
              <a:avLst/>
            </a:prstGeom>
          </p:spPr>
          <p:txBody>
            <a:bodyPr anchor="t" rtlCol="false" tIns="0" lIns="0" bIns="0" rIns="0">
              <a:spAutoFit/>
            </a:bodyPr>
            <a:lstStyle/>
            <a:p>
              <a:pPr algn="ctr">
                <a:lnSpc>
                  <a:spcPts val="2375"/>
                </a:lnSpc>
              </a:pPr>
              <a:r>
                <a:rPr lang="en-US" b="true" sz="2199" spc="-94">
                  <a:solidFill>
                    <a:srgbClr val="44242D"/>
                  </a:solidFill>
                  <a:latin typeface="Telegraf Bold"/>
                  <a:ea typeface="Telegraf Bold"/>
                  <a:cs typeface="Telegraf Bold"/>
                  <a:sym typeface="Telegraf Bold"/>
                </a:rPr>
                <a:t>The Recruitment Gap</a:t>
              </a:r>
            </a:p>
          </p:txBody>
        </p:sp>
      </p:grpSp>
      <p:sp>
        <p:nvSpPr>
          <p:cNvPr name="TextBox 13" id="13"/>
          <p:cNvSpPr txBox="true"/>
          <p:nvPr/>
        </p:nvSpPr>
        <p:spPr>
          <a:xfrm rot="0">
            <a:off x="242659" y="3649926"/>
            <a:ext cx="8693184" cy="5302250"/>
          </a:xfrm>
          <a:prstGeom prst="rect">
            <a:avLst/>
          </a:prstGeom>
        </p:spPr>
        <p:txBody>
          <a:bodyPr anchor="t" rtlCol="false" tIns="0" lIns="0" bIns="0" rIns="0">
            <a:spAutoFit/>
          </a:bodyPr>
          <a:lstStyle/>
          <a:p>
            <a:pPr algn="l">
              <a:lnSpc>
                <a:spcPts val="2799"/>
              </a:lnSpc>
            </a:pPr>
            <a:r>
              <a:rPr lang="en-US" sz="1999" spc="19">
                <a:solidFill>
                  <a:srgbClr val="231318"/>
                </a:solidFill>
                <a:latin typeface="Telegraf"/>
                <a:ea typeface="Telegraf"/>
                <a:cs typeface="Telegraf"/>
                <a:sym typeface="Telegraf"/>
              </a:rPr>
              <a:t>Doodle is a well-established company in the world of software development. They have traditionally relied on Third-Party Recruiting Agency to hire candidates for the job positions.  Doodle seeks to build an in-house solution called Hush-Hush Recruiter.</a:t>
            </a:r>
          </a:p>
          <a:p>
            <a:pPr algn="l">
              <a:lnSpc>
                <a:spcPts val="2799"/>
              </a:lnSpc>
            </a:pPr>
          </a:p>
          <a:p>
            <a:pPr algn="l">
              <a:lnSpc>
                <a:spcPts val="2799"/>
              </a:lnSpc>
            </a:pPr>
            <a:r>
              <a:rPr lang="en-US" sz="1999" spc="19">
                <a:solidFill>
                  <a:srgbClr val="231318"/>
                </a:solidFill>
                <a:latin typeface="Telegraf"/>
                <a:ea typeface="Telegraf"/>
                <a:cs typeface="Telegraf"/>
                <a:sym typeface="Telegraf"/>
              </a:rPr>
              <a:t>The Solution must proactively scout public data sources (like GitHub or Stack Overflow) to identify promising candidates without them actively applying. It should discreetly notify selected individuals, invite them to complete coding challenges through a secure, time-limited portal and enable our project managers to review submissions and make decisions.</a:t>
            </a:r>
          </a:p>
          <a:p>
            <a:pPr algn="l">
              <a:lnSpc>
                <a:spcPts val="2799"/>
              </a:lnSpc>
            </a:pPr>
          </a:p>
          <a:p>
            <a:pPr algn="l">
              <a:lnSpc>
                <a:spcPts val="2799"/>
              </a:lnSpc>
            </a:pPr>
            <a:r>
              <a:rPr lang="en-US" sz="1999" spc="19">
                <a:solidFill>
                  <a:srgbClr val="231318"/>
                </a:solidFill>
                <a:latin typeface="Telegraf"/>
                <a:ea typeface="Telegraf"/>
                <a:cs typeface="Telegraf"/>
                <a:sym typeface="Telegraf"/>
              </a:rPr>
              <a:t>This system must maintain privacy, avoid deterministic selection patterns to prevent unfair candidate advantage and ensure a scalable hiring software aligned with Doodle’s innovation culture.</a:t>
            </a:r>
          </a:p>
        </p:txBody>
      </p:sp>
      <p:sp>
        <p:nvSpPr>
          <p:cNvPr name="TextBox 14" id="14"/>
          <p:cNvSpPr txBox="true"/>
          <p:nvPr/>
        </p:nvSpPr>
        <p:spPr>
          <a:xfrm rot="0">
            <a:off x="13914624" y="2778420"/>
            <a:ext cx="4513524" cy="1004062"/>
          </a:xfrm>
          <a:prstGeom prst="rect">
            <a:avLst/>
          </a:prstGeom>
        </p:spPr>
        <p:txBody>
          <a:bodyPr anchor="t" rtlCol="false" tIns="0" lIns="0" bIns="0" rIns="0">
            <a:spAutoFit/>
          </a:bodyPr>
          <a:lstStyle/>
          <a:p>
            <a:pPr algn="ctr" marL="0" indent="0" lvl="1">
              <a:lnSpc>
                <a:spcPts val="2683"/>
              </a:lnSpc>
            </a:pPr>
            <a:r>
              <a:rPr lang="en-US" sz="2199" spc="-74">
                <a:solidFill>
                  <a:srgbClr val="000000"/>
                </a:solidFill>
                <a:latin typeface="DM Sans"/>
                <a:ea typeface="DM Sans"/>
                <a:cs typeface="DM Sans"/>
                <a:sym typeface="DM Sans"/>
              </a:rPr>
              <a:t>Maintains reliance on external expertise but lack control and privacy.</a:t>
            </a:r>
          </a:p>
        </p:txBody>
      </p:sp>
      <p:sp>
        <p:nvSpPr>
          <p:cNvPr name="Freeform 15" id="15"/>
          <p:cNvSpPr/>
          <p:nvPr/>
        </p:nvSpPr>
        <p:spPr>
          <a:xfrm flipH="false" flipV="false" rot="0">
            <a:off x="1028700" y="911153"/>
            <a:ext cx="658986" cy="658986"/>
          </a:xfrm>
          <a:custGeom>
            <a:avLst/>
            <a:gdLst/>
            <a:ahLst/>
            <a:cxnLst/>
            <a:rect r="r" b="b" t="t" l="l"/>
            <a:pathLst>
              <a:path h="658986" w="658986">
                <a:moveTo>
                  <a:pt x="0" y="0"/>
                </a:moveTo>
                <a:lnTo>
                  <a:pt x="658986" y="0"/>
                </a:lnTo>
                <a:lnTo>
                  <a:pt x="658986" y="658986"/>
                </a:lnTo>
                <a:lnTo>
                  <a:pt x="0" y="658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10098688" y="1047670"/>
            <a:ext cx="5217789" cy="987679"/>
          </a:xfrm>
          <a:prstGeom prst="rect">
            <a:avLst/>
          </a:prstGeom>
        </p:spPr>
        <p:txBody>
          <a:bodyPr anchor="t" rtlCol="false" tIns="0" lIns="0" bIns="0" rIns="0">
            <a:spAutoFit/>
          </a:bodyPr>
          <a:lstStyle/>
          <a:p>
            <a:pPr algn="l" marL="0" indent="0" lvl="1">
              <a:lnSpc>
                <a:spcPts val="3967"/>
              </a:lnSpc>
            </a:pPr>
            <a:r>
              <a:rPr lang="en-US" b="true" sz="3099" spc="-105">
                <a:solidFill>
                  <a:srgbClr val="000000"/>
                </a:solidFill>
                <a:latin typeface="DM Sans Bold"/>
                <a:ea typeface="DM Sans Bold"/>
                <a:cs typeface="DM Sans Bold"/>
                <a:sym typeface="DM Sans Bold"/>
              </a:rPr>
              <a:t>Should Doodle develop an in-house recruiting solution ?</a:t>
            </a:r>
          </a:p>
        </p:txBody>
      </p:sp>
      <p:sp>
        <p:nvSpPr>
          <p:cNvPr name="TextBox 17" id="17"/>
          <p:cNvSpPr txBox="true"/>
          <p:nvPr/>
        </p:nvSpPr>
        <p:spPr>
          <a:xfrm rot="0">
            <a:off x="13774476" y="2351700"/>
            <a:ext cx="4513524" cy="436246"/>
          </a:xfrm>
          <a:prstGeom prst="rect">
            <a:avLst/>
          </a:prstGeom>
        </p:spPr>
        <p:txBody>
          <a:bodyPr anchor="t" rtlCol="false" tIns="0" lIns="0" bIns="0" rIns="0">
            <a:spAutoFit/>
          </a:bodyPr>
          <a:lstStyle/>
          <a:p>
            <a:pPr algn="ctr" marL="0" indent="0" lvl="1">
              <a:lnSpc>
                <a:spcPts val="3629"/>
              </a:lnSpc>
            </a:pPr>
            <a:r>
              <a:rPr lang="en-US" b="true" sz="2199" spc="-74">
                <a:solidFill>
                  <a:srgbClr val="0CD27F"/>
                </a:solidFill>
                <a:latin typeface="DM Sans Bold"/>
                <a:ea typeface="DM Sans Bold"/>
                <a:cs typeface="DM Sans Bold"/>
                <a:sym typeface="DM Sans Bold"/>
              </a:rPr>
              <a:t>Continue with Agency</a:t>
            </a:r>
          </a:p>
        </p:txBody>
      </p:sp>
      <p:sp>
        <p:nvSpPr>
          <p:cNvPr name="TextBox 18" id="18"/>
          <p:cNvSpPr txBox="true"/>
          <p:nvPr/>
        </p:nvSpPr>
        <p:spPr>
          <a:xfrm rot="0">
            <a:off x="13514126" y="7024902"/>
            <a:ext cx="4513524" cy="436246"/>
          </a:xfrm>
          <a:prstGeom prst="rect">
            <a:avLst/>
          </a:prstGeom>
        </p:spPr>
        <p:txBody>
          <a:bodyPr anchor="t" rtlCol="false" tIns="0" lIns="0" bIns="0" rIns="0">
            <a:spAutoFit/>
          </a:bodyPr>
          <a:lstStyle/>
          <a:p>
            <a:pPr algn="ctr" marL="0" indent="0" lvl="1">
              <a:lnSpc>
                <a:spcPts val="3629"/>
              </a:lnSpc>
            </a:pPr>
            <a:r>
              <a:rPr lang="en-US" b="true" sz="2199" spc="-74">
                <a:solidFill>
                  <a:srgbClr val="265DEF"/>
                </a:solidFill>
                <a:latin typeface="DM Sans Bold"/>
                <a:ea typeface="DM Sans Bold"/>
                <a:cs typeface="DM Sans Bold"/>
                <a:sym typeface="DM Sans Bold"/>
              </a:rPr>
              <a:t>Develop In-house Solution</a:t>
            </a:r>
          </a:p>
        </p:txBody>
      </p:sp>
      <p:sp>
        <p:nvSpPr>
          <p:cNvPr name="TextBox 19" id="19"/>
          <p:cNvSpPr txBox="true"/>
          <p:nvPr/>
        </p:nvSpPr>
        <p:spPr>
          <a:xfrm rot="0">
            <a:off x="13514126" y="7508773"/>
            <a:ext cx="4513524" cy="1337437"/>
          </a:xfrm>
          <a:prstGeom prst="rect">
            <a:avLst/>
          </a:prstGeom>
        </p:spPr>
        <p:txBody>
          <a:bodyPr anchor="t" rtlCol="false" tIns="0" lIns="0" bIns="0" rIns="0">
            <a:spAutoFit/>
          </a:bodyPr>
          <a:lstStyle/>
          <a:p>
            <a:pPr algn="ctr" marL="0" indent="0" lvl="1">
              <a:lnSpc>
                <a:spcPts val="2683"/>
              </a:lnSpc>
            </a:pPr>
            <a:r>
              <a:rPr lang="en-US" sz="2199" spc="-74">
                <a:solidFill>
                  <a:srgbClr val="000000"/>
                </a:solidFill>
                <a:latin typeface="DM Sans"/>
                <a:ea typeface="DM Sans"/>
                <a:cs typeface="DM Sans"/>
                <a:sym typeface="DM Sans"/>
              </a:rPr>
              <a:t>Offers control over the hiring process, ensures privacy, and aligns with companies current requirements.</a:t>
            </a:r>
          </a:p>
        </p:txBody>
      </p:sp>
      <p:sp>
        <p:nvSpPr>
          <p:cNvPr name="Freeform 20" id="20"/>
          <p:cNvSpPr/>
          <p:nvPr/>
        </p:nvSpPr>
        <p:spPr>
          <a:xfrm flipH="true" flipV="true" rot="0">
            <a:off x="15316477" y="-1290951"/>
            <a:ext cx="5244578" cy="3690276"/>
          </a:xfrm>
          <a:custGeom>
            <a:avLst/>
            <a:gdLst/>
            <a:ahLst/>
            <a:cxnLst/>
            <a:rect r="r" b="b" t="t" l="l"/>
            <a:pathLst>
              <a:path h="3690276" w="5244578">
                <a:moveTo>
                  <a:pt x="5244578" y="3690276"/>
                </a:moveTo>
                <a:lnTo>
                  <a:pt x="0" y="3690276"/>
                </a:lnTo>
                <a:lnTo>
                  <a:pt x="0" y="0"/>
                </a:lnTo>
                <a:lnTo>
                  <a:pt x="5244578" y="0"/>
                </a:lnTo>
                <a:lnTo>
                  <a:pt x="5244578" y="3690276"/>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sp>
        <p:nvSpPr>
          <p:cNvPr name="AutoShape 2" id="2"/>
          <p:cNvSpPr/>
          <p:nvPr/>
        </p:nvSpPr>
        <p:spPr>
          <a:xfrm>
            <a:off x="0" y="0"/>
            <a:ext cx="8136603" cy="4487267"/>
          </a:xfrm>
          <a:prstGeom prst="line">
            <a:avLst/>
          </a:prstGeom>
          <a:ln cap="flat" w="28575">
            <a:solidFill>
              <a:srgbClr val="000000"/>
            </a:solidFill>
            <a:prstDash val="solid"/>
            <a:headEnd type="none" len="sm" w="sm"/>
            <a:tailEnd type="none" len="sm" w="sm"/>
          </a:ln>
        </p:spPr>
      </p:sp>
      <p:sp>
        <p:nvSpPr>
          <p:cNvPr name="AutoShape 3" id="3"/>
          <p:cNvSpPr/>
          <p:nvPr/>
        </p:nvSpPr>
        <p:spPr>
          <a:xfrm flipV="true">
            <a:off x="0" y="4664220"/>
            <a:ext cx="8144057" cy="5622780"/>
          </a:xfrm>
          <a:prstGeom prst="line">
            <a:avLst/>
          </a:prstGeom>
          <a:ln cap="flat" w="28575">
            <a:solidFill>
              <a:srgbClr val="000000"/>
            </a:solidFill>
            <a:prstDash val="solid"/>
            <a:headEnd type="none" len="sm" w="sm"/>
            <a:tailEnd type="none" len="sm" w="sm"/>
          </a:ln>
        </p:spPr>
      </p:sp>
      <p:sp>
        <p:nvSpPr>
          <p:cNvPr name="AutoShape 4" id="4"/>
          <p:cNvSpPr/>
          <p:nvPr/>
        </p:nvSpPr>
        <p:spPr>
          <a:xfrm flipH="true" flipV="true">
            <a:off x="10119117" y="4664220"/>
            <a:ext cx="8168883" cy="5622780"/>
          </a:xfrm>
          <a:prstGeom prst="line">
            <a:avLst/>
          </a:prstGeom>
          <a:ln cap="flat" w="28575">
            <a:solidFill>
              <a:srgbClr val="000000"/>
            </a:solidFill>
            <a:prstDash val="solid"/>
            <a:headEnd type="none" len="sm" w="sm"/>
            <a:tailEnd type="none" len="sm" w="sm"/>
          </a:ln>
        </p:spPr>
      </p:sp>
      <p:sp>
        <p:nvSpPr>
          <p:cNvPr name="AutoShape 5" id="5"/>
          <p:cNvSpPr/>
          <p:nvPr/>
        </p:nvSpPr>
        <p:spPr>
          <a:xfrm flipH="true">
            <a:off x="10119117" y="0"/>
            <a:ext cx="8168883" cy="4487267"/>
          </a:xfrm>
          <a:prstGeom prst="line">
            <a:avLst/>
          </a:prstGeom>
          <a:ln cap="flat" w="28575">
            <a:solidFill>
              <a:srgbClr val="000000"/>
            </a:solidFill>
            <a:prstDash val="solid"/>
            <a:headEnd type="none" len="sm" w="sm"/>
            <a:tailEnd type="none" len="sm" w="sm"/>
          </a:ln>
        </p:spPr>
      </p:sp>
      <p:sp>
        <p:nvSpPr>
          <p:cNvPr name="Freeform 6" id="6"/>
          <p:cNvSpPr/>
          <p:nvPr/>
        </p:nvSpPr>
        <p:spPr>
          <a:xfrm flipH="false" flipV="false" rot="0">
            <a:off x="7591470" y="3024280"/>
            <a:ext cx="3293460" cy="3453169"/>
          </a:xfrm>
          <a:custGeom>
            <a:avLst/>
            <a:gdLst/>
            <a:ahLst/>
            <a:cxnLst/>
            <a:rect r="r" b="b" t="t" l="l"/>
            <a:pathLst>
              <a:path h="3453169" w="3293460">
                <a:moveTo>
                  <a:pt x="0" y="0"/>
                </a:moveTo>
                <a:lnTo>
                  <a:pt x="3293460" y="0"/>
                </a:lnTo>
                <a:lnTo>
                  <a:pt x="3293460" y="3453170"/>
                </a:lnTo>
                <a:lnTo>
                  <a:pt x="0" y="3453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442989" y="3623527"/>
            <a:ext cx="1402022" cy="2081387"/>
          </a:xfrm>
          <a:custGeom>
            <a:avLst/>
            <a:gdLst/>
            <a:ahLst/>
            <a:cxnLst/>
            <a:rect r="r" b="b" t="t" l="l"/>
            <a:pathLst>
              <a:path h="2081387" w="1402022">
                <a:moveTo>
                  <a:pt x="0" y="0"/>
                </a:moveTo>
                <a:lnTo>
                  <a:pt x="1402022" y="0"/>
                </a:lnTo>
                <a:lnTo>
                  <a:pt x="1402022" y="2081387"/>
                </a:lnTo>
                <a:lnTo>
                  <a:pt x="0" y="20813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78169" y="533689"/>
            <a:ext cx="658986" cy="658986"/>
          </a:xfrm>
          <a:custGeom>
            <a:avLst/>
            <a:gdLst/>
            <a:ahLst/>
            <a:cxnLst/>
            <a:rect r="r" b="b" t="t" l="l"/>
            <a:pathLst>
              <a:path h="658986" w="658986">
                <a:moveTo>
                  <a:pt x="0" y="0"/>
                </a:moveTo>
                <a:lnTo>
                  <a:pt x="658986" y="0"/>
                </a:lnTo>
                <a:lnTo>
                  <a:pt x="658986" y="658986"/>
                </a:lnTo>
                <a:lnTo>
                  <a:pt x="0" y="6589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5893091">
            <a:off x="14032119" y="6482232"/>
            <a:ext cx="5632930" cy="4291269"/>
          </a:xfrm>
          <a:custGeom>
            <a:avLst/>
            <a:gdLst/>
            <a:ahLst/>
            <a:cxnLst/>
            <a:rect r="r" b="b" t="t" l="l"/>
            <a:pathLst>
              <a:path h="4291269" w="5632930">
                <a:moveTo>
                  <a:pt x="0" y="0"/>
                </a:moveTo>
                <a:lnTo>
                  <a:pt x="5632930" y="0"/>
                </a:lnTo>
                <a:lnTo>
                  <a:pt x="5632930" y="4291268"/>
                </a:lnTo>
                <a:lnTo>
                  <a:pt x="0" y="42912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5525254" y="7315829"/>
            <a:ext cx="7237493" cy="1990198"/>
            <a:chOff x="0" y="0"/>
            <a:chExt cx="9649991" cy="2653598"/>
          </a:xfrm>
        </p:grpSpPr>
        <p:sp>
          <p:nvSpPr>
            <p:cNvPr name="TextBox 11" id="11"/>
            <p:cNvSpPr txBox="true"/>
            <p:nvPr/>
          </p:nvSpPr>
          <p:spPr>
            <a:xfrm rot="0">
              <a:off x="762808" y="114300"/>
              <a:ext cx="8887183" cy="1520783"/>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As a Project Manager, </a:t>
              </a:r>
              <a:r>
                <a:rPr lang="en-US" sz="1899" u="none">
                  <a:solidFill>
                    <a:srgbClr val="000000"/>
                  </a:solidFill>
                  <a:latin typeface="Open Sauce"/>
                  <a:ea typeface="Open Sauce"/>
                  <a:cs typeface="Open Sauce"/>
                  <a:sym typeface="Open Sauce"/>
                </a:rPr>
                <a:t>I want to hire skilled technical candidates for my projects, so that I can quickly fill roles to avoid missing project deadlines. </a:t>
              </a:r>
            </a:p>
            <a:p>
              <a:pPr algn="l" marL="0" indent="0" lvl="0">
                <a:lnSpc>
                  <a:spcPts val="2298"/>
                </a:lnSpc>
                <a:spcBef>
                  <a:spcPct val="0"/>
                </a:spcBef>
              </a:pPr>
            </a:p>
          </p:txBody>
        </p:sp>
        <p:sp>
          <p:nvSpPr>
            <p:cNvPr name="TextBox 12" id="12"/>
            <p:cNvSpPr txBox="true"/>
            <p:nvPr/>
          </p:nvSpPr>
          <p:spPr>
            <a:xfrm rot="0">
              <a:off x="762808" y="1894815"/>
              <a:ext cx="8887183" cy="758783"/>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to review the codes written by the candidate, so that I can hire the best fit for the project.</a:t>
              </a:r>
            </a:p>
          </p:txBody>
        </p:sp>
        <p:sp>
          <p:nvSpPr>
            <p:cNvPr name="Freeform 13" id="13"/>
            <p:cNvSpPr/>
            <p:nvPr/>
          </p:nvSpPr>
          <p:spPr>
            <a:xfrm flipH="false" flipV="false" rot="0">
              <a:off x="0" y="0"/>
              <a:ext cx="543101" cy="543101"/>
            </a:xfrm>
            <a:custGeom>
              <a:avLst/>
              <a:gdLst/>
              <a:ahLst/>
              <a:cxnLst/>
              <a:rect r="r" b="b" t="t" l="l"/>
              <a:pathLst>
                <a:path h="543101" w="543101">
                  <a:moveTo>
                    <a:pt x="0" y="0"/>
                  </a:moveTo>
                  <a:lnTo>
                    <a:pt x="543101" y="0"/>
                  </a:lnTo>
                  <a:lnTo>
                    <a:pt x="543101" y="543101"/>
                  </a:lnTo>
                  <a:lnTo>
                    <a:pt x="0" y="5431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0" y="1686101"/>
              <a:ext cx="543101" cy="543101"/>
            </a:xfrm>
            <a:custGeom>
              <a:avLst/>
              <a:gdLst/>
              <a:ahLst/>
              <a:cxnLst/>
              <a:rect r="r" b="b" t="t" l="l"/>
              <a:pathLst>
                <a:path h="543101" w="543101">
                  <a:moveTo>
                    <a:pt x="0" y="0"/>
                  </a:moveTo>
                  <a:lnTo>
                    <a:pt x="543101" y="0"/>
                  </a:lnTo>
                  <a:lnTo>
                    <a:pt x="543101" y="543100"/>
                  </a:lnTo>
                  <a:lnTo>
                    <a:pt x="0" y="5431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Freeform 15" id="15"/>
          <p:cNvSpPr/>
          <p:nvPr/>
        </p:nvSpPr>
        <p:spPr>
          <a:xfrm flipH="false" flipV="false" rot="0">
            <a:off x="633492" y="4283604"/>
            <a:ext cx="407325" cy="407325"/>
          </a:xfrm>
          <a:custGeom>
            <a:avLst/>
            <a:gdLst/>
            <a:ahLst/>
            <a:cxnLst/>
            <a:rect r="r" b="b" t="t" l="l"/>
            <a:pathLst>
              <a:path h="407325" w="407325">
                <a:moveTo>
                  <a:pt x="0" y="0"/>
                </a:moveTo>
                <a:lnTo>
                  <a:pt x="407325" y="0"/>
                </a:lnTo>
                <a:lnTo>
                  <a:pt x="407325" y="407326"/>
                </a:lnTo>
                <a:lnTo>
                  <a:pt x="0" y="4073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633492" y="4843330"/>
            <a:ext cx="407325" cy="407325"/>
          </a:xfrm>
          <a:custGeom>
            <a:avLst/>
            <a:gdLst/>
            <a:ahLst/>
            <a:cxnLst/>
            <a:rect r="r" b="b" t="t" l="l"/>
            <a:pathLst>
              <a:path h="407325" w="407325">
                <a:moveTo>
                  <a:pt x="0" y="0"/>
                </a:moveTo>
                <a:lnTo>
                  <a:pt x="407325" y="0"/>
                </a:lnTo>
                <a:lnTo>
                  <a:pt x="407325" y="407325"/>
                </a:lnTo>
                <a:lnTo>
                  <a:pt x="0" y="4073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12023052" y="3962004"/>
            <a:ext cx="407325" cy="407325"/>
          </a:xfrm>
          <a:custGeom>
            <a:avLst/>
            <a:gdLst/>
            <a:ahLst/>
            <a:cxnLst/>
            <a:rect r="r" b="b" t="t" l="l"/>
            <a:pathLst>
              <a:path h="407325" w="407325">
                <a:moveTo>
                  <a:pt x="0" y="0"/>
                </a:moveTo>
                <a:lnTo>
                  <a:pt x="407325" y="0"/>
                </a:lnTo>
                <a:lnTo>
                  <a:pt x="407325" y="407325"/>
                </a:lnTo>
                <a:lnTo>
                  <a:pt x="0" y="40732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12023052" y="5329957"/>
            <a:ext cx="407325" cy="407325"/>
          </a:xfrm>
          <a:custGeom>
            <a:avLst/>
            <a:gdLst/>
            <a:ahLst/>
            <a:cxnLst/>
            <a:rect r="r" b="b" t="t" l="l"/>
            <a:pathLst>
              <a:path h="407325" w="407325">
                <a:moveTo>
                  <a:pt x="0" y="0"/>
                </a:moveTo>
                <a:lnTo>
                  <a:pt x="407325" y="0"/>
                </a:lnTo>
                <a:lnTo>
                  <a:pt x="407325" y="407326"/>
                </a:lnTo>
                <a:lnTo>
                  <a:pt x="0" y="4073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826126">
            <a:off x="4692041" y="-342730"/>
            <a:ext cx="1100727" cy="1424889"/>
          </a:xfrm>
          <a:custGeom>
            <a:avLst/>
            <a:gdLst/>
            <a:ahLst/>
            <a:cxnLst/>
            <a:rect r="r" b="b" t="t" l="l"/>
            <a:pathLst>
              <a:path h="1424889" w="1100727">
                <a:moveTo>
                  <a:pt x="0" y="0"/>
                </a:moveTo>
                <a:lnTo>
                  <a:pt x="1100727" y="0"/>
                </a:lnTo>
                <a:lnTo>
                  <a:pt x="1100727" y="1424889"/>
                </a:lnTo>
                <a:lnTo>
                  <a:pt x="0" y="142488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0" id="20"/>
          <p:cNvSpPr txBox="true"/>
          <p:nvPr/>
        </p:nvSpPr>
        <p:spPr>
          <a:xfrm rot="0">
            <a:off x="7423881" y="6590150"/>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User Story</a:t>
            </a:r>
          </a:p>
        </p:txBody>
      </p:sp>
      <p:sp>
        <p:nvSpPr>
          <p:cNvPr name="TextBox 21" id="21"/>
          <p:cNvSpPr txBox="true"/>
          <p:nvPr/>
        </p:nvSpPr>
        <p:spPr>
          <a:xfrm rot="0">
            <a:off x="3437172" y="16619428"/>
            <a:ext cx="3722716" cy="1018508"/>
          </a:xfrm>
          <a:prstGeom prst="rect">
            <a:avLst/>
          </a:prstGeom>
        </p:spPr>
        <p:txBody>
          <a:bodyPr anchor="t" rtlCol="false" tIns="0" lIns="0" bIns="0" rIns="0">
            <a:spAutoFit/>
          </a:bodyPr>
          <a:lstStyle/>
          <a:p>
            <a:pPr algn="ctr">
              <a:lnSpc>
                <a:spcPts val="2074"/>
              </a:lnSpc>
            </a:pPr>
            <a:r>
              <a:rPr lang="en-US" sz="1714">
                <a:solidFill>
                  <a:srgbClr val="000000"/>
                </a:solidFill>
                <a:latin typeface="Open Sauce"/>
                <a:ea typeface="Open Sauce"/>
                <a:cs typeface="Open Sauce"/>
                <a:sym typeface="Open Sauce"/>
              </a:rPr>
              <a:t>Lorem ipsum dolor sit amet, consectetur adipiscing elit. Nunc fermentum urna ac dolor aliquam, vitae ultricies diam accumsan.</a:t>
            </a:r>
          </a:p>
        </p:txBody>
      </p:sp>
      <p:sp>
        <p:nvSpPr>
          <p:cNvPr name="TextBox 22" id="22"/>
          <p:cNvSpPr txBox="true"/>
          <p:nvPr/>
        </p:nvSpPr>
        <p:spPr>
          <a:xfrm rot="0">
            <a:off x="5692842" y="385908"/>
            <a:ext cx="6902316" cy="1123950"/>
          </a:xfrm>
          <a:prstGeom prst="rect">
            <a:avLst/>
          </a:prstGeom>
        </p:spPr>
        <p:txBody>
          <a:bodyPr anchor="t" rtlCol="false" tIns="0" lIns="0" bIns="0" rIns="0">
            <a:spAutoFit/>
          </a:bodyPr>
          <a:lstStyle/>
          <a:p>
            <a:pPr algn="l" marL="0" indent="0" lvl="1">
              <a:lnSpc>
                <a:spcPts val="8100"/>
              </a:lnSpc>
              <a:spcBef>
                <a:spcPct val="0"/>
              </a:spcBef>
            </a:pPr>
            <a:r>
              <a:rPr lang="en-US" b="true" sz="9000" spc="-450">
                <a:solidFill>
                  <a:srgbClr val="000000"/>
                </a:solidFill>
                <a:latin typeface="DM Sans Bold"/>
                <a:ea typeface="DM Sans Bold"/>
                <a:cs typeface="DM Sans Bold"/>
                <a:sym typeface="DM Sans Bold"/>
              </a:rPr>
              <a:t>User Persona</a:t>
            </a:r>
          </a:p>
        </p:txBody>
      </p:sp>
      <p:sp>
        <p:nvSpPr>
          <p:cNvPr name="TextBox 23" id="23"/>
          <p:cNvSpPr txBox="true"/>
          <p:nvPr/>
        </p:nvSpPr>
        <p:spPr>
          <a:xfrm rot="0">
            <a:off x="6264948" y="1648897"/>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Name:</a:t>
            </a:r>
            <a:r>
              <a:rPr lang="en-US" sz="1899">
                <a:solidFill>
                  <a:srgbClr val="000000"/>
                </a:solidFill>
                <a:latin typeface="Open Sauce"/>
                <a:ea typeface="Open Sauce"/>
                <a:cs typeface="Open Sauce"/>
                <a:sym typeface="Open Sauce"/>
              </a:rPr>
              <a:t> Daniel Okafor</a:t>
            </a:r>
          </a:p>
        </p:txBody>
      </p:sp>
      <p:sp>
        <p:nvSpPr>
          <p:cNvPr name="TextBox 24" id="24"/>
          <p:cNvSpPr txBox="true"/>
          <p:nvPr/>
        </p:nvSpPr>
        <p:spPr>
          <a:xfrm rot="0">
            <a:off x="6264948" y="2098781"/>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Position:</a:t>
            </a:r>
            <a:r>
              <a:rPr lang="en-US" sz="1899">
                <a:solidFill>
                  <a:srgbClr val="000000"/>
                </a:solidFill>
                <a:latin typeface="Open Sauce"/>
                <a:ea typeface="Open Sauce"/>
                <a:cs typeface="Open Sauce"/>
                <a:sym typeface="Open Sauce"/>
              </a:rPr>
              <a:t> Project Manager</a:t>
            </a:r>
          </a:p>
        </p:txBody>
      </p:sp>
      <p:sp>
        <p:nvSpPr>
          <p:cNvPr name="TextBox 25" id="25"/>
          <p:cNvSpPr txBox="true"/>
          <p:nvPr/>
        </p:nvSpPr>
        <p:spPr>
          <a:xfrm rot="0">
            <a:off x="6264948" y="2545821"/>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Age:</a:t>
            </a:r>
            <a:r>
              <a:rPr lang="en-US" sz="1899">
                <a:solidFill>
                  <a:srgbClr val="000000"/>
                </a:solidFill>
                <a:latin typeface="Open Sauce"/>
                <a:ea typeface="Open Sauce"/>
                <a:cs typeface="Open Sauce"/>
                <a:sym typeface="Open Sauce"/>
              </a:rPr>
              <a:t> 47</a:t>
            </a:r>
          </a:p>
        </p:txBody>
      </p:sp>
      <p:sp>
        <p:nvSpPr>
          <p:cNvPr name="TextBox 26" id="26"/>
          <p:cNvSpPr txBox="true"/>
          <p:nvPr/>
        </p:nvSpPr>
        <p:spPr>
          <a:xfrm rot="0">
            <a:off x="1208934" y="3205316"/>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Pain Points</a:t>
            </a:r>
          </a:p>
        </p:txBody>
      </p:sp>
      <p:sp>
        <p:nvSpPr>
          <p:cNvPr name="TextBox 27" id="27"/>
          <p:cNvSpPr txBox="true"/>
          <p:nvPr/>
        </p:nvSpPr>
        <p:spPr>
          <a:xfrm rot="0">
            <a:off x="12730349" y="3205316"/>
            <a:ext cx="4164423"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My Requirements</a:t>
            </a:r>
          </a:p>
        </p:txBody>
      </p:sp>
      <p:sp>
        <p:nvSpPr>
          <p:cNvPr name="TextBox 28" id="28"/>
          <p:cNvSpPr txBox="true"/>
          <p:nvPr/>
        </p:nvSpPr>
        <p:spPr>
          <a:xfrm rot="0">
            <a:off x="1205598" y="4369329"/>
            <a:ext cx="6665387" cy="28333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Inconsistent quality of candidates. </a:t>
            </a:r>
          </a:p>
        </p:txBody>
      </p:sp>
      <p:sp>
        <p:nvSpPr>
          <p:cNvPr name="TextBox 29" id="29"/>
          <p:cNvSpPr txBox="true"/>
          <p:nvPr/>
        </p:nvSpPr>
        <p:spPr>
          <a:xfrm rot="0">
            <a:off x="1205598" y="4999866"/>
            <a:ext cx="6665387" cy="28333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Difficulty in sourcing niche technical skills.</a:t>
            </a:r>
          </a:p>
        </p:txBody>
      </p:sp>
      <p:sp>
        <p:nvSpPr>
          <p:cNvPr name="TextBox 30" id="30"/>
          <p:cNvSpPr txBox="true"/>
          <p:nvPr/>
        </p:nvSpPr>
        <p:spPr>
          <a:xfrm rot="0">
            <a:off x="12595158" y="4058377"/>
            <a:ext cx="5692842" cy="11405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to define the required skill set, experience, role in a project and system must identify candidates through the automated recruitment process. </a:t>
            </a:r>
          </a:p>
        </p:txBody>
      </p:sp>
      <p:sp>
        <p:nvSpPr>
          <p:cNvPr name="TextBox 31" id="31"/>
          <p:cNvSpPr txBox="true"/>
          <p:nvPr/>
        </p:nvSpPr>
        <p:spPr>
          <a:xfrm rot="0">
            <a:off x="12595158" y="5421595"/>
            <a:ext cx="4924217" cy="1426319"/>
          </a:xfrm>
          <a:prstGeom prst="rect">
            <a:avLst/>
          </a:prstGeom>
        </p:spPr>
        <p:txBody>
          <a:bodyPr anchor="t" rtlCol="false" tIns="0" lIns="0" bIns="0" rIns="0">
            <a:spAutoFit/>
          </a:bodyPr>
          <a:lstStyle/>
          <a:p>
            <a:pPr algn="l">
              <a:lnSpc>
                <a:spcPts val="2316"/>
              </a:lnSpc>
            </a:pPr>
            <a:r>
              <a:rPr lang="en-US" sz="1914">
                <a:solidFill>
                  <a:srgbClr val="000000"/>
                </a:solidFill>
                <a:latin typeface="Open Sauce"/>
                <a:ea typeface="Open Sauce"/>
                <a:cs typeface="Open Sauce"/>
                <a:sym typeface="Open Sauce"/>
              </a:rPr>
              <a:t>I or a person assigned by me should be able to review the submitted coding challenge. </a:t>
            </a:r>
          </a:p>
          <a:p>
            <a:pPr algn="l">
              <a:lnSpc>
                <a:spcPts val="2316"/>
              </a:lnSpc>
            </a:pPr>
            <a:r>
              <a:rPr lang="en-US" sz="1914">
                <a:solidFill>
                  <a:srgbClr val="000000"/>
                </a:solidFill>
                <a:latin typeface="Open Sauce"/>
                <a:ea typeface="Open Sauce"/>
                <a:cs typeface="Open Sauce"/>
                <a:sym typeface="Open Sauce"/>
              </a:rPr>
              <a:t> </a:t>
            </a:r>
          </a:p>
          <a:p>
            <a:pPr algn="l" marL="0" indent="0" lvl="0">
              <a:lnSpc>
                <a:spcPts val="231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sp>
        <p:nvSpPr>
          <p:cNvPr name="AutoShape 2" id="2"/>
          <p:cNvSpPr/>
          <p:nvPr/>
        </p:nvSpPr>
        <p:spPr>
          <a:xfrm flipV="true">
            <a:off x="0" y="4664220"/>
            <a:ext cx="8144057" cy="5622780"/>
          </a:xfrm>
          <a:prstGeom prst="line">
            <a:avLst/>
          </a:prstGeom>
          <a:ln cap="flat" w="28575">
            <a:solidFill>
              <a:srgbClr val="000000"/>
            </a:solidFill>
            <a:prstDash val="solid"/>
            <a:headEnd type="none" len="sm" w="sm"/>
            <a:tailEnd type="none" len="sm" w="sm"/>
          </a:ln>
        </p:spPr>
      </p:sp>
      <p:sp>
        <p:nvSpPr>
          <p:cNvPr name="AutoShape 3" id="3"/>
          <p:cNvSpPr/>
          <p:nvPr/>
        </p:nvSpPr>
        <p:spPr>
          <a:xfrm>
            <a:off x="0" y="0"/>
            <a:ext cx="8136603" cy="4487267"/>
          </a:xfrm>
          <a:prstGeom prst="line">
            <a:avLst/>
          </a:prstGeom>
          <a:ln cap="flat" w="28575">
            <a:solidFill>
              <a:srgbClr val="000000"/>
            </a:solidFill>
            <a:prstDash val="solid"/>
            <a:headEnd type="none" len="sm" w="sm"/>
            <a:tailEnd type="none" len="sm" w="sm"/>
          </a:ln>
        </p:spPr>
      </p:sp>
      <p:sp>
        <p:nvSpPr>
          <p:cNvPr name="AutoShape 4" id="4"/>
          <p:cNvSpPr/>
          <p:nvPr/>
        </p:nvSpPr>
        <p:spPr>
          <a:xfrm flipH="true">
            <a:off x="10119117" y="0"/>
            <a:ext cx="8168883" cy="4487267"/>
          </a:xfrm>
          <a:prstGeom prst="line">
            <a:avLst/>
          </a:prstGeom>
          <a:ln cap="flat" w="28575">
            <a:solidFill>
              <a:srgbClr val="000000"/>
            </a:solidFill>
            <a:prstDash val="solid"/>
            <a:headEnd type="none" len="sm" w="sm"/>
            <a:tailEnd type="none" len="sm" w="sm"/>
          </a:ln>
        </p:spPr>
      </p:sp>
      <p:sp>
        <p:nvSpPr>
          <p:cNvPr name="AutoShape 5" id="5"/>
          <p:cNvSpPr/>
          <p:nvPr/>
        </p:nvSpPr>
        <p:spPr>
          <a:xfrm flipH="true" flipV="true">
            <a:off x="10119117" y="4664220"/>
            <a:ext cx="8168883" cy="5622780"/>
          </a:xfrm>
          <a:prstGeom prst="line">
            <a:avLst/>
          </a:prstGeom>
          <a:ln cap="flat" w="28575">
            <a:solidFill>
              <a:srgbClr val="000000"/>
            </a:solidFill>
            <a:prstDash val="solid"/>
            <a:headEnd type="none" len="sm" w="sm"/>
            <a:tailEnd type="none" len="sm" w="sm"/>
          </a:ln>
        </p:spPr>
      </p:sp>
      <p:sp>
        <p:nvSpPr>
          <p:cNvPr name="Freeform 6" id="6"/>
          <p:cNvSpPr/>
          <p:nvPr/>
        </p:nvSpPr>
        <p:spPr>
          <a:xfrm flipH="false" flipV="false" rot="0">
            <a:off x="7591470" y="3024280"/>
            <a:ext cx="3293460" cy="3453169"/>
          </a:xfrm>
          <a:custGeom>
            <a:avLst/>
            <a:gdLst/>
            <a:ahLst/>
            <a:cxnLst/>
            <a:rect r="r" b="b" t="t" l="l"/>
            <a:pathLst>
              <a:path h="3453169" w="3293460">
                <a:moveTo>
                  <a:pt x="0" y="0"/>
                </a:moveTo>
                <a:lnTo>
                  <a:pt x="3293460" y="0"/>
                </a:lnTo>
                <a:lnTo>
                  <a:pt x="3293460" y="3453170"/>
                </a:lnTo>
                <a:lnTo>
                  <a:pt x="0" y="3453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78169" y="533689"/>
            <a:ext cx="658986" cy="658986"/>
          </a:xfrm>
          <a:custGeom>
            <a:avLst/>
            <a:gdLst/>
            <a:ahLst/>
            <a:cxnLst/>
            <a:rect r="r" b="b" t="t" l="l"/>
            <a:pathLst>
              <a:path h="658986" w="658986">
                <a:moveTo>
                  <a:pt x="0" y="0"/>
                </a:moveTo>
                <a:lnTo>
                  <a:pt x="658986" y="0"/>
                </a:lnTo>
                <a:lnTo>
                  <a:pt x="658986" y="658986"/>
                </a:lnTo>
                <a:lnTo>
                  <a:pt x="0" y="658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558527">
            <a:off x="15626255" y="6856448"/>
            <a:ext cx="4717638" cy="4803704"/>
          </a:xfrm>
          <a:custGeom>
            <a:avLst/>
            <a:gdLst/>
            <a:ahLst/>
            <a:cxnLst/>
            <a:rect r="r" b="b" t="t" l="l"/>
            <a:pathLst>
              <a:path h="4803704" w="4717638">
                <a:moveTo>
                  <a:pt x="0" y="0"/>
                </a:moveTo>
                <a:lnTo>
                  <a:pt x="4717638" y="0"/>
                </a:lnTo>
                <a:lnTo>
                  <a:pt x="4717638" y="4803704"/>
                </a:lnTo>
                <a:lnTo>
                  <a:pt x="0" y="4803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5525254" y="7315829"/>
            <a:ext cx="7237493" cy="1512062"/>
            <a:chOff x="0" y="0"/>
            <a:chExt cx="9649991" cy="2016083"/>
          </a:xfrm>
        </p:grpSpPr>
        <p:sp>
          <p:nvSpPr>
            <p:cNvPr name="TextBox 10" id="10"/>
            <p:cNvSpPr txBox="true"/>
            <p:nvPr/>
          </p:nvSpPr>
          <p:spPr>
            <a:xfrm rot="0">
              <a:off x="762808" y="114300"/>
              <a:ext cx="8887183" cy="1901783"/>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As a HR Manager, I want an automated Hiring workflow through HushHush Recruiter (our in-house hiring platform), so that I can ensure the recruitment process runs without depending on hiring agencies and complies with company hiring policies.</a:t>
              </a:r>
            </a:p>
          </p:txBody>
        </p:sp>
        <p:sp>
          <p:nvSpPr>
            <p:cNvPr name="Freeform 11" id="11"/>
            <p:cNvSpPr/>
            <p:nvPr/>
          </p:nvSpPr>
          <p:spPr>
            <a:xfrm flipH="false" flipV="false" rot="0">
              <a:off x="0" y="0"/>
              <a:ext cx="543101" cy="543101"/>
            </a:xfrm>
            <a:custGeom>
              <a:avLst/>
              <a:gdLst/>
              <a:ahLst/>
              <a:cxnLst/>
              <a:rect r="r" b="b" t="t" l="l"/>
              <a:pathLst>
                <a:path h="543101" w="543101">
                  <a:moveTo>
                    <a:pt x="0" y="0"/>
                  </a:moveTo>
                  <a:lnTo>
                    <a:pt x="543101" y="0"/>
                  </a:lnTo>
                  <a:lnTo>
                    <a:pt x="543101" y="543101"/>
                  </a:lnTo>
                  <a:lnTo>
                    <a:pt x="0" y="5431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2" id="12"/>
          <p:cNvSpPr/>
          <p:nvPr/>
        </p:nvSpPr>
        <p:spPr>
          <a:xfrm flipH="false" flipV="false" rot="0">
            <a:off x="633492" y="4283604"/>
            <a:ext cx="407325" cy="407325"/>
          </a:xfrm>
          <a:custGeom>
            <a:avLst/>
            <a:gdLst/>
            <a:ahLst/>
            <a:cxnLst/>
            <a:rect r="r" b="b" t="t" l="l"/>
            <a:pathLst>
              <a:path h="407325" w="407325">
                <a:moveTo>
                  <a:pt x="0" y="0"/>
                </a:moveTo>
                <a:lnTo>
                  <a:pt x="407325" y="0"/>
                </a:lnTo>
                <a:lnTo>
                  <a:pt x="407325" y="407326"/>
                </a:lnTo>
                <a:lnTo>
                  <a:pt x="0" y="4073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33492" y="4843330"/>
            <a:ext cx="407325" cy="407325"/>
          </a:xfrm>
          <a:custGeom>
            <a:avLst/>
            <a:gdLst/>
            <a:ahLst/>
            <a:cxnLst/>
            <a:rect r="r" b="b" t="t" l="l"/>
            <a:pathLst>
              <a:path h="407325" w="407325">
                <a:moveTo>
                  <a:pt x="0" y="0"/>
                </a:moveTo>
                <a:lnTo>
                  <a:pt x="407325" y="0"/>
                </a:lnTo>
                <a:lnTo>
                  <a:pt x="407325" y="407325"/>
                </a:lnTo>
                <a:lnTo>
                  <a:pt x="0" y="4073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2023052" y="4191140"/>
            <a:ext cx="407325" cy="407325"/>
          </a:xfrm>
          <a:custGeom>
            <a:avLst/>
            <a:gdLst/>
            <a:ahLst/>
            <a:cxnLst/>
            <a:rect r="r" b="b" t="t" l="l"/>
            <a:pathLst>
              <a:path h="407325" w="407325">
                <a:moveTo>
                  <a:pt x="0" y="0"/>
                </a:moveTo>
                <a:lnTo>
                  <a:pt x="407325" y="0"/>
                </a:lnTo>
                <a:lnTo>
                  <a:pt x="407325" y="407325"/>
                </a:lnTo>
                <a:lnTo>
                  <a:pt x="0" y="4073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8408846" y="3651403"/>
            <a:ext cx="1470307" cy="2079054"/>
          </a:xfrm>
          <a:custGeom>
            <a:avLst/>
            <a:gdLst/>
            <a:ahLst/>
            <a:cxnLst/>
            <a:rect r="r" b="b" t="t" l="l"/>
            <a:pathLst>
              <a:path h="2079054" w="1470307">
                <a:moveTo>
                  <a:pt x="0" y="0"/>
                </a:moveTo>
                <a:lnTo>
                  <a:pt x="1470308" y="0"/>
                </a:lnTo>
                <a:lnTo>
                  <a:pt x="1470308" y="2079054"/>
                </a:lnTo>
                <a:lnTo>
                  <a:pt x="0" y="207905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6" id="16"/>
          <p:cNvSpPr txBox="true"/>
          <p:nvPr/>
        </p:nvSpPr>
        <p:spPr>
          <a:xfrm rot="0">
            <a:off x="7423881" y="6590150"/>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User Story</a:t>
            </a:r>
          </a:p>
        </p:txBody>
      </p:sp>
      <p:sp>
        <p:nvSpPr>
          <p:cNvPr name="TextBox 17" id="17"/>
          <p:cNvSpPr txBox="true"/>
          <p:nvPr/>
        </p:nvSpPr>
        <p:spPr>
          <a:xfrm rot="0">
            <a:off x="3437172" y="16619428"/>
            <a:ext cx="3722716" cy="1018508"/>
          </a:xfrm>
          <a:prstGeom prst="rect">
            <a:avLst/>
          </a:prstGeom>
        </p:spPr>
        <p:txBody>
          <a:bodyPr anchor="t" rtlCol="false" tIns="0" lIns="0" bIns="0" rIns="0">
            <a:spAutoFit/>
          </a:bodyPr>
          <a:lstStyle/>
          <a:p>
            <a:pPr algn="ctr">
              <a:lnSpc>
                <a:spcPts val="2074"/>
              </a:lnSpc>
            </a:pPr>
            <a:r>
              <a:rPr lang="en-US" sz="1714">
                <a:solidFill>
                  <a:srgbClr val="000000"/>
                </a:solidFill>
                <a:latin typeface="Open Sauce"/>
                <a:ea typeface="Open Sauce"/>
                <a:cs typeface="Open Sauce"/>
                <a:sym typeface="Open Sauce"/>
              </a:rPr>
              <a:t>Lorem ipsum dolor sit amet, consectetur adipiscing elit. Nunc fermentum urna ac dolor aliquam, vitae ultricies diam accumsan.</a:t>
            </a:r>
          </a:p>
        </p:txBody>
      </p:sp>
      <p:sp>
        <p:nvSpPr>
          <p:cNvPr name="TextBox 18" id="18"/>
          <p:cNvSpPr txBox="true"/>
          <p:nvPr/>
        </p:nvSpPr>
        <p:spPr>
          <a:xfrm rot="0">
            <a:off x="5692842" y="385908"/>
            <a:ext cx="6902316" cy="1123950"/>
          </a:xfrm>
          <a:prstGeom prst="rect">
            <a:avLst/>
          </a:prstGeom>
        </p:spPr>
        <p:txBody>
          <a:bodyPr anchor="t" rtlCol="false" tIns="0" lIns="0" bIns="0" rIns="0">
            <a:spAutoFit/>
          </a:bodyPr>
          <a:lstStyle/>
          <a:p>
            <a:pPr algn="l" marL="0" indent="0" lvl="1">
              <a:lnSpc>
                <a:spcPts val="8100"/>
              </a:lnSpc>
              <a:spcBef>
                <a:spcPct val="0"/>
              </a:spcBef>
            </a:pPr>
            <a:r>
              <a:rPr lang="en-US" b="true" sz="9000" spc="-450" strike="noStrike" u="none">
                <a:solidFill>
                  <a:srgbClr val="000000"/>
                </a:solidFill>
                <a:latin typeface="DM Sans Bold"/>
                <a:ea typeface="DM Sans Bold"/>
                <a:cs typeface="DM Sans Bold"/>
                <a:sym typeface="DM Sans Bold"/>
              </a:rPr>
              <a:t>User Persona</a:t>
            </a:r>
          </a:p>
        </p:txBody>
      </p:sp>
      <p:sp>
        <p:nvSpPr>
          <p:cNvPr name="TextBox 19" id="19"/>
          <p:cNvSpPr txBox="true"/>
          <p:nvPr/>
        </p:nvSpPr>
        <p:spPr>
          <a:xfrm rot="0">
            <a:off x="6264948" y="1559335"/>
            <a:ext cx="5758104" cy="323215"/>
          </a:xfrm>
          <a:prstGeom prst="rect">
            <a:avLst/>
          </a:prstGeom>
        </p:spPr>
        <p:txBody>
          <a:bodyPr anchor="t" rtlCol="false" tIns="0" lIns="0" bIns="0" rIns="0">
            <a:spAutoFit/>
          </a:bodyPr>
          <a:lstStyle/>
          <a:p>
            <a:pPr algn="ctr" marL="0" indent="0" lvl="0">
              <a:lnSpc>
                <a:spcPts val="2659"/>
              </a:lnSpc>
              <a:spcBef>
                <a:spcPct val="0"/>
              </a:spcBef>
            </a:pPr>
            <a:r>
              <a:rPr lang="en-US" b="true" sz="1899" strike="noStrike" u="none">
                <a:solidFill>
                  <a:srgbClr val="000000"/>
                </a:solidFill>
                <a:latin typeface="Open Sauce Bold"/>
                <a:ea typeface="Open Sauce Bold"/>
                <a:cs typeface="Open Sauce Bold"/>
                <a:sym typeface="Open Sauce Bold"/>
              </a:rPr>
              <a:t>Name:</a:t>
            </a:r>
            <a:r>
              <a:rPr lang="en-US" sz="1899" strike="noStrike" u="none">
                <a:solidFill>
                  <a:srgbClr val="000000"/>
                </a:solidFill>
                <a:latin typeface="Open Sauce"/>
                <a:ea typeface="Open Sauce"/>
                <a:cs typeface="Open Sauce"/>
                <a:sym typeface="Open Sauce"/>
              </a:rPr>
              <a:t> Olivia Bennett</a:t>
            </a:r>
          </a:p>
        </p:txBody>
      </p:sp>
      <p:sp>
        <p:nvSpPr>
          <p:cNvPr name="TextBox 20" id="20"/>
          <p:cNvSpPr txBox="true"/>
          <p:nvPr/>
        </p:nvSpPr>
        <p:spPr>
          <a:xfrm rot="0">
            <a:off x="6264948" y="2034950"/>
            <a:ext cx="5758104" cy="323215"/>
          </a:xfrm>
          <a:prstGeom prst="rect">
            <a:avLst/>
          </a:prstGeom>
        </p:spPr>
        <p:txBody>
          <a:bodyPr anchor="t" rtlCol="false" tIns="0" lIns="0" bIns="0" rIns="0">
            <a:spAutoFit/>
          </a:bodyPr>
          <a:lstStyle/>
          <a:p>
            <a:pPr algn="ctr" marL="0" indent="0" lvl="0">
              <a:lnSpc>
                <a:spcPts val="2659"/>
              </a:lnSpc>
              <a:spcBef>
                <a:spcPct val="0"/>
              </a:spcBef>
            </a:pPr>
            <a:r>
              <a:rPr lang="en-US" b="true" sz="1899" strike="noStrike" u="none">
                <a:solidFill>
                  <a:srgbClr val="000000"/>
                </a:solidFill>
                <a:latin typeface="Open Sauce Bold"/>
                <a:ea typeface="Open Sauce Bold"/>
                <a:cs typeface="Open Sauce Bold"/>
                <a:sym typeface="Open Sauce Bold"/>
              </a:rPr>
              <a:t>Position:</a:t>
            </a:r>
            <a:r>
              <a:rPr lang="en-US" sz="1899" strike="noStrike" u="none">
                <a:solidFill>
                  <a:srgbClr val="000000"/>
                </a:solidFill>
                <a:latin typeface="Open Sauce"/>
                <a:ea typeface="Open Sauce"/>
                <a:cs typeface="Open Sauce"/>
                <a:sym typeface="Open Sauce"/>
              </a:rPr>
              <a:t> Human Resources (HR)</a:t>
            </a:r>
          </a:p>
        </p:txBody>
      </p:sp>
      <p:sp>
        <p:nvSpPr>
          <p:cNvPr name="TextBox 21" id="21"/>
          <p:cNvSpPr txBox="true"/>
          <p:nvPr/>
        </p:nvSpPr>
        <p:spPr>
          <a:xfrm rot="0">
            <a:off x="6264948" y="2510565"/>
            <a:ext cx="5758104" cy="323215"/>
          </a:xfrm>
          <a:prstGeom prst="rect">
            <a:avLst/>
          </a:prstGeom>
        </p:spPr>
        <p:txBody>
          <a:bodyPr anchor="t" rtlCol="false" tIns="0" lIns="0" bIns="0" rIns="0">
            <a:spAutoFit/>
          </a:bodyPr>
          <a:lstStyle/>
          <a:p>
            <a:pPr algn="ctr" marL="0" indent="0" lvl="0">
              <a:lnSpc>
                <a:spcPts val="2659"/>
              </a:lnSpc>
              <a:spcBef>
                <a:spcPct val="0"/>
              </a:spcBef>
            </a:pPr>
            <a:r>
              <a:rPr lang="en-US" b="true" sz="1899" strike="noStrike" u="none">
                <a:solidFill>
                  <a:srgbClr val="000000"/>
                </a:solidFill>
                <a:latin typeface="Open Sauce Bold"/>
                <a:ea typeface="Open Sauce Bold"/>
                <a:cs typeface="Open Sauce Bold"/>
                <a:sym typeface="Open Sauce Bold"/>
              </a:rPr>
              <a:t>Age: </a:t>
            </a:r>
            <a:r>
              <a:rPr lang="en-US" sz="1899" strike="noStrike" u="none">
                <a:solidFill>
                  <a:srgbClr val="000000"/>
                </a:solidFill>
                <a:latin typeface="Open Sauce"/>
                <a:ea typeface="Open Sauce"/>
                <a:cs typeface="Open Sauce"/>
                <a:sym typeface="Open Sauce"/>
              </a:rPr>
              <a:t>28</a:t>
            </a:r>
          </a:p>
        </p:txBody>
      </p:sp>
      <p:sp>
        <p:nvSpPr>
          <p:cNvPr name="TextBox 22" id="22"/>
          <p:cNvSpPr txBox="true"/>
          <p:nvPr/>
        </p:nvSpPr>
        <p:spPr>
          <a:xfrm rot="0">
            <a:off x="1208934" y="3205316"/>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Pain Points</a:t>
            </a:r>
          </a:p>
        </p:txBody>
      </p:sp>
      <p:sp>
        <p:nvSpPr>
          <p:cNvPr name="TextBox 23" id="23"/>
          <p:cNvSpPr txBox="true"/>
          <p:nvPr/>
        </p:nvSpPr>
        <p:spPr>
          <a:xfrm rot="0">
            <a:off x="12730349" y="3205316"/>
            <a:ext cx="4164423"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My Requirements</a:t>
            </a:r>
          </a:p>
        </p:txBody>
      </p:sp>
      <p:sp>
        <p:nvSpPr>
          <p:cNvPr name="TextBox 24" id="24"/>
          <p:cNvSpPr txBox="true"/>
          <p:nvPr/>
        </p:nvSpPr>
        <p:spPr>
          <a:xfrm rot="0">
            <a:off x="1205598" y="4369329"/>
            <a:ext cx="6665387" cy="28333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Too many manual steps in hiring.</a:t>
            </a:r>
          </a:p>
        </p:txBody>
      </p:sp>
      <p:sp>
        <p:nvSpPr>
          <p:cNvPr name="TextBox 25" id="25"/>
          <p:cNvSpPr txBox="true"/>
          <p:nvPr/>
        </p:nvSpPr>
        <p:spPr>
          <a:xfrm rot="0">
            <a:off x="1205598" y="4999866"/>
            <a:ext cx="5954290" cy="5690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Delays due to dependency on third-party agencies.</a:t>
            </a:r>
          </a:p>
        </p:txBody>
      </p:sp>
      <p:sp>
        <p:nvSpPr>
          <p:cNvPr name="TextBox 26" id="26"/>
          <p:cNvSpPr txBox="true"/>
          <p:nvPr/>
        </p:nvSpPr>
        <p:spPr>
          <a:xfrm rot="0">
            <a:off x="12595158" y="4276865"/>
            <a:ext cx="5247255" cy="5690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The software should be able to find best fit candidate.</a:t>
            </a:r>
          </a:p>
        </p:txBody>
      </p:sp>
      <p:sp>
        <p:nvSpPr>
          <p:cNvPr name="Freeform 27" id="27"/>
          <p:cNvSpPr/>
          <p:nvPr/>
        </p:nvSpPr>
        <p:spPr>
          <a:xfrm flipH="false" flipV="false" rot="-826126">
            <a:off x="4692041" y="-342730"/>
            <a:ext cx="1100727" cy="1424889"/>
          </a:xfrm>
          <a:custGeom>
            <a:avLst/>
            <a:gdLst/>
            <a:ahLst/>
            <a:cxnLst/>
            <a:rect r="r" b="b" t="t" l="l"/>
            <a:pathLst>
              <a:path h="1424889" w="1100727">
                <a:moveTo>
                  <a:pt x="0" y="0"/>
                </a:moveTo>
                <a:lnTo>
                  <a:pt x="1100727" y="0"/>
                </a:lnTo>
                <a:lnTo>
                  <a:pt x="1100727" y="1424889"/>
                </a:lnTo>
                <a:lnTo>
                  <a:pt x="0" y="142488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sp>
        <p:nvSpPr>
          <p:cNvPr name="AutoShape 2" id="2"/>
          <p:cNvSpPr/>
          <p:nvPr/>
        </p:nvSpPr>
        <p:spPr>
          <a:xfrm>
            <a:off x="0" y="0"/>
            <a:ext cx="8136603" cy="4487267"/>
          </a:xfrm>
          <a:prstGeom prst="line">
            <a:avLst/>
          </a:prstGeom>
          <a:ln cap="flat" w="28575">
            <a:solidFill>
              <a:srgbClr val="000000"/>
            </a:solidFill>
            <a:prstDash val="solid"/>
            <a:headEnd type="none" len="sm" w="sm"/>
            <a:tailEnd type="none" len="sm" w="sm"/>
          </a:ln>
        </p:spPr>
      </p:sp>
      <p:sp>
        <p:nvSpPr>
          <p:cNvPr name="AutoShape 3" id="3"/>
          <p:cNvSpPr/>
          <p:nvPr/>
        </p:nvSpPr>
        <p:spPr>
          <a:xfrm flipV="true">
            <a:off x="0" y="4664220"/>
            <a:ext cx="8144057" cy="5622780"/>
          </a:xfrm>
          <a:prstGeom prst="line">
            <a:avLst/>
          </a:prstGeom>
          <a:ln cap="flat" w="28575">
            <a:solidFill>
              <a:srgbClr val="000000"/>
            </a:solidFill>
            <a:prstDash val="solid"/>
            <a:headEnd type="none" len="sm" w="sm"/>
            <a:tailEnd type="none" len="sm" w="sm"/>
          </a:ln>
        </p:spPr>
      </p:sp>
      <p:sp>
        <p:nvSpPr>
          <p:cNvPr name="AutoShape 4" id="4"/>
          <p:cNvSpPr/>
          <p:nvPr/>
        </p:nvSpPr>
        <p:spPr>
          <a:xfrm flipH="true" flipV="true">
            <a:off x="10119117" y="4664220"/>
            <a:ext cx="8168883" cy="5622780"/>
          </a:xfrm>
          <a:prstGeom prst="line">
            <a:avLst/>
          </a:prstGeom>
          <a:ln cap="flat" w="28575">
            <a:solidFill>
              <a:srgbClr val="000000"/>
            </a:solidFill>
            <a:prstDash val="solid"/>
            <a:headEnd type="none" len="sm" w="sm"/>
            <a:tailEnd type="none" len="sm" w="sm"/>
          </a:ln>
        </p:spPr>
      </p:sp>
      <p:sp>
        <p:nvSpPr>
          <p:cNvPr name="AutoShape 5" id="5"/>
          <p:cNvSpPr/>
          <p:nvPr/>
        </p:nvSpPr>
        <p:spPr>
          <a:xfrm flipH="true">
            <a:off x="10119117" y="0"/>
            <a:ext cx="8168883" cy="4487267"/>
          </a:xfrm>
          <a:prstGeom prst="line">
            <a:avLst/>
          </a:prstGeom>
          <a:ln cap="flat" w="28575">
            <a:solidFill>
              <a:srgbClr val="000000"/>
            </a:solidFill>
            <a:prstDash val="solid"/>
            <a:headEnd type="none" len="sm" w="sm"/>
            <a:tailEnd type="none" len="sm" w="sm"/>
          </a:ln>
        </p:spPr>
      </p:sp>
      <p:sp>
        <p:nvSpPr>
          <p:cNvPr name="Freeform 6" id="6"/>
          <p:cNvSpPr/>
          <p:nvPr/>
        </p:nvSpPr>
        <p:spPr>
          <a:xfrm flipH="false" flipV="false" rot="0">
            <a:off x="7591470" y="3024280"/>
            <a:ext cx="3293460" cy="3453169"/>
          </a:xfrm>
          <a:custGeom>
            <a:avLst/>
            <a:gdLst/>
            <a:ahLst/>
            <a:cxnLst/>
            <a:rect r="r" b="b" t="t" l="l"/>
            <a:pathLst>
              <a:path h="3453169" w="3293460">
                <a:moveTo>
                  <a:pt x="0" y="0"/>
                </a:moveTo>
                <a:lnTo>
                  <a:pt x="3293460" y="0"/>
                </a:lnTo>
                <a:lnTo>
                  <a:pt x="3293460" y="3453170"/>
                </a:lnTo>
                <a:lnTo>
                  <a:pt x="0" y="3453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78169" y="533689"/>
            <a:ext cx="658986" cy="658986"/>
          </a:xfrm>
          <a:custGeom>
            <a:avLst/>
            <a:gdLst/>
            <a:ahLst/>
            <a:cxnLst/>
            <a:rect r="r" b="b" t="t" l="l"/>
            <a:pathLst>
              <a:path h="658986" w="658986">
                <a:moveTo>
                  <a:pt x="0" y="0"/>
                </a:moveTo>
                <a:lnTo>
                  <a:pt x="658986" y="0"/>
                </a:lnTo>
                <a:lnTo>
                  <a:pt x="658986" y="658986"/>
                </a:lnTo>
                <a:lnTo>
                  <a:pt x="0" y="658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401998">
            <a:off x="14660040" y="7200900"/>
            <a:ext cx="3727323" cy="4114800"/>
          </a:xfrm>
          <a:custGeom>
            <a:avLst/>
            <a:gdLst/>
            <a:ahLst/>
            <a:cxnLst/>
            <a:rect r="r" b="b" t="t" l="l"/>
            <a:pathLst>
              <a:path h="4114800" w="3727323">
                <a:moveTo>
                  <a:pt x="0" y="0"/>
                </a:moveTo>
                <a:lnTo>
                  <a:pt x="3727323" y="0"/>
                </a:lnTo>
                <a:lnTo>
                  <a:pt x="372732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5525254" y="7315829"/>
            <a:ext cx="7237493" cy="1512062"/>
            <a:chOff x="0" y="0"/>
            <a:chExt cx="9649991" cy="2016083"/>
          </a:xfrm>
        </p:grpSpPr>
        <p:sp>
          <p:nvSpPr>
            <p:cNvPr name="TextBox 10" id="10"/>
            <p:cNvSpPr txBox="true"/>
            <p:nvPr/>
          </p:nvSpPr>
          <p:spPr>
            <a:xfrm rot="0">
              <a:off x="762808" y="114300"/>
              <a:ext cx="8887183" cy="1901783"/>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As a System Administrator, I want an environment where candidate will appear for exam and store their data securely in the backend so that I can ensure the system remains scalable and compliant with data privacy regulations.</a:t>
              </a:r>
            </a:p>
          </p:txBody>
        </p:sp>
        <p:sp>
          <p:nvSpPr>
            <p:cNvPr name="Freeform 11" id="11"/>
            <p:cNvSpPr/>
            <p:nvPr/>
          </p:nvSpPr>
          <p:spPr>
            <a:xfrm flipH="false" flipV="false" rot="0">
              <a:off x="0" y="0"/>
              <a:ext cx="543101" cy="543101"/>
            </a:xfrm>
            <a:custGeom>
              <a:avLst/>
              <a:gdLst/>
              <a:ahLst/>
              <a:cxnLst/>
              <a:rect r="r" b="b" t="t" l="l"/>
              <a:pathLst>
                <a:path h="543101" w="543101">
                  <a:moveTo>
                    <a:pt x="0" y="0"/>
                  </a:moveTo>
                  <a:lnTo>
                    <a:pt x="543101" y="0"/>
                  </a:lnTo>
                  <a:lnTo>
                    <a:pt x="543101" y="543101"/>
                  </a:lnTo>
                  <a:lnTo>
                    <a:pt x="0" y="5431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2" id="12"/>
          <p:cNvSpPr/>
          <p:nvPr/>
        </p:nvSpPr>
        <p:spPr>
          <a:xfrm flipH="false" flipV="false" rot="0">
            <a:off x="633492" y="4283604"/>
            <a:ext cx="407325" cy="407325"/>
          </a:xfrm>
          <a:custGeom>
            <a:avLst/>
            <a:gdLst/>
            <a:ahLst/>
            <a:cxnLst/>
            <a:rect r="r" b="b" t="t" l="l"/>
            <a:pathLst>
              <a:path h="407325" w="407325">
                <a:moveTo>
                  <a:pt x="0" y="0"/>
                </a:moveTo>
                <a:lnTo>
                  <a:pt x="407325" y="0"/>
                </a:lnTo>
                <a:lnTo>
                  <a:pt x="407325" y="407326"/>
                </a:lnTo>
                <a:lnTo>
                  <a:pt x="0" y="4073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49208" y="5049060"/>
            <a:ext cx="407325" cy="407325"/>
          </a:xfrm>
          <a:custGeom>
            <a:avLst/>
            <a:gdLst/>
            <a:ahLst/>
            <a:cxnLst/>
            <a:rect r="r" b="b" t="t" l="l"/>
            <a:pathLst>
              <a:path h="407325" w="407325">
                <a:moveTo>
                  <a:pt x="0" y="0"/>
                </a:moveTo>
                <a:lnTo>
                  <a:pt x="407326" y="0"/>
                </a:lnTo>
                <a:lnTo>
                  <a:pt x="407326" y="407326"/>
                </a:lnTo>
                <a:lnTo>
                  <a:pt x="0" y="4073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1712716" y="3804502"/>
            <a:ext cx="407325" cy="407325"/>
          </a:xfrm>
          <a:custGeom>
            <a:avLst/>
            <a:gdLst/>
            <a:ahLst/>
            <a:cxnLst/>
            <a:rect r="r" b="b" t="t" l="l"/>
            <a:pathLst>
              <a:path h="407325" w="407325">
                <a:moveTo>
                  <a:pt x="0" y="0"/>
                </a:moveTo>
                <a:lnTo>
                  <a:pt x="407325" y="0"/>
                </a:lnTo>
                <a:lnTo>
                  <a:pt x="407325" y="407325"/>
                </a:lnTo>
                <a:lnTo>
                  <a:pt x="0" y="4073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1712716" y="4598465"/>
            <a:ext cx="407325" cy="407325"/>
          </a:xfrm>
          <a:custGeom>
            <a:avLst/>
            <a:gdLst/>
            <a:ahLst/>
            <a:cxnLst/>
            <a:rect r="r" b="b" t="t" l="l"/>
            <a:pathLst>
              <a:path h="407325" w="407325">
                <a:moveTo>
                  <a:pt x="0" y="0"/>
                </a:moveTo>
                <a:lnTo>
                  <a:pt x="407325" y="0"/>
                </a:lnTo>
                <a:lnTo>
                  <a:pt x="407325" y="407325"/>
                </a:lnTo>
                <a:lnTo>
                  <a:pt x="0" y="4073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826126">
            <a:off x="4748167" y="-342730"/>
            <a:ext cx="1100727" cy="1424889"/>
          </a:xfrm>
          <a:custGeom>
            <a:avLst/>
            <a:gdLst/>
            <a:ahLst/>
            <a:cxnLst/>
            <a:rect r="r" b="b" t="t" l="l"/>
            <a:pathLst>
              <a:path h="1424889" w="1100727">
                <a:moveTo>
                  <a:pt x="0" y="0"/>
                </a:moveTo>
                <a:lnTo>
                  <a:pt x="1100727" y="0"/>
                </a:lnTo>
                <a:lnTo>
                  <a:pt x="1100727" y="1424889"/>
                </a:lnTo>
                <a:lnTo>
                  <a:pt x="0" y="142488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8332650" y="3407092"/>
            <a:ext cx="1622699" cy="2382745"/>
          </a:xfrm>
          <a:custGeom>
            <a:avLst/>
            <a:gdLst/>
            <a:ahLst/>
            <a:cxnLst/>
            <a:rect r="r" b="b" t="t" l="l"/>
            <a:pathLst>
              <a:path h="2382745" w="1622699">
                <a:moveTo>
                  <a:pt x="0" y="0"/>
                </a:moveTo>
                <a:lnTo>
                  <a:pt x="1622700" y="0"/>
                </a:lnTo>
                <a:lnTo>
                  <a:pt x="1622700" y="2382746"/>
                </a:lnTo>
                <a:lnTo>
                  <a:pt x="0" y="238274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8" id="18"/>
          <p:cNvSpPr txBox="true"/>
          <p:nvPr/>
        </p:nvSpPr>
        <p:spPr>
          <a:xfrm rot="0">
            <a:off x="7423881" y="6590150"/>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User Story</a:t>
            </a:r>
          </a:p>
        </p:txBody>
      </p:sp>
      <p:sp>
        <p:nvSpPr>
          <p:cNvPr name="TextBox 19" id="19"/>
          <p:cNvSpPr txBox="true"/>
          <p:nvPr/>
        </p:nvSpPr>
        <p:spPr>
          <a:xfrm rot="0">
            <a:off x="3437172" y="16619428"/>
            <a:ext cx="3722716" cy="1018508"/>
          </a:xfrm>
          <a:prstGeom prst="rect">
            <a:avLst/>
          </a:prstGeom>
        </p:spPr>
        <p:txBody>
          <a:bodyPr anchor="t" rtlCol="false" tIns="0" lIns="0" bIns="0" rIns="0">
            <a:spAutoFit/>
          </a:bodyPr>
          <a:lstStyle/>
          <a:p>
            <a:pPr algn="ctr">
              <a:lnSpc>
                <a:spcPts val="2074"/>
              </a:lnSpc>
            </a:pPr>
            <a:r>
              <a:rPr lang="en-US" sz="1714">
                <a:solidFill>
                  <a:srgbClr val="000000"/>
                </a:solidFill>
                <a:latin typeface="Open Sauce"/>
                <a:ea typeface="Open Sauce"/>
                <a:cs typeface="Open Sauce"/>
                <a:sym typeface="Open Sauce"/>
              </a:rPr>
              <a:t>Lorem ipsum dolor sit amet, consectetur adipiscing elit. Nunc fermentum urna ac dolor aliquam, vitae ultricies diam accumsan.</a:t>
            </a:r>
          </a:p>
        </p:txBody>
      </p:sp>
      <p:sp>
        <p:nvSpPr>
          <p:cNvPr name="TextBox 20" id="20"/>
          <p:cNvSpPr txBox="true"/>
          <p:nvPr/>
        </p:nvSpPr>
        <p:spPr>
          <a:xfrm rot="0">
            <a:off x="5692842" y="376383"/>
            <a:ext cx="6902316" cy="1123950"/>
          </a:xfrm>
          <a:prstGeom prst="rect">
            <a:avLst/>
          </a:prstGeom>
        </p:spPr>
        <p:txBody>
          <a:bodyPr anchor="t" rtlCol="false" tIns="0" lIns="0" bIns="0" rIns="0">
            <a:spAutoFit/>
          </a:bodyPr>
          <a:lstStyle/>
          <a:p>
            <a:pPr algn="l" marL="0" indent="0" lvl="1">
              <a:lnSpc>
                <a:spcPts val="8100"/>
              </a:lnSpc>
              <a:spcBef>
                <a:spcPct val="0"/>
              </a:spcBef>
            </a:pPr>
            <a:r>
              <a:rPr lang="en-US" b="true" sz="9000" spc="-450">
                <a:solidFill>
                  <a:srgbClr val="000000"/>
                </a:solidFill>
                <a:latin typeface="DM Sans Bold"/>
                <a:ea typeface="DM Sans Bold"/>
                <a:cs typeface="DM Sans Bold"/>
                <a:sym typeface="DM Sans Bold"/>
              </a:rPr>
              <a:t>User Persona</a:t>
            </a:r>
          </a:p>
        </p:txBody>
      </p:sp>
      <p:sp>
        <p:nvSpPr>
          <p:cNvPr name="TextBox 21" id="21"/>
          <p:cNvSpPr txBox="true"/>
          <p:nvPr/>
        </p:nvSpPr>
        <p:spPr>
          <a:xfrm rot="0">
            <a:off x="6264948" y="1559335"/>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Name:</a:t>
            </a:r>
            <a:r>
              <a:rPr lang="en-US" sz="1899">
                <a:solidFill>
                  <a:srgbClr val="000000"/>
                </a:solidFill>
                <a:latin typeface="Open Sauce"/>
                <a:ea typeface="Open Sauce"/>
                <a:cs typeface="Open Sauce"/>
                <a:sym typeface="Open Sauce"/>
              </a:rPr>
              <a:t> Leo Martinez</a:t>
            </a:r>
          </a:p>
        </p:txBody>
      </p:sp>
      <p:sp>
        <p:nvSpPr>
          <p:cNvPr name="TextBox 22" id="22"/>
          <p:cNvSpPr txBox="true"/>
          <p:nvPr/>
        </p:nvSpPr>
        <p:spPr>
          <a:xfrm rot="0">
            <a:off x="6264948" y="2034950"/>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Position:</a:t>
            </a:r>
            <a:r>
              <a:rPr lang="en-US" sz="1899">
                <a:solidFill>
                  <a:srgbClr val="000000"/>
                </a:solidFill>
                <a:latin typeface="Open Sauce"/>
                <a:ea typeface="Open Sauce"/>
                <a:cs typeface="Open Sauce"/>
                <a:sym typeface="Open Sauce"/>
              </a:rPr>
              <a:t> System Administrator</a:t>
            </a:r>
          </a:p>
        </p:txBody>
      </p:sp>
      <p:sp>
        <p:nvSpPr>
          <p:cNvPr name="TextBox 23" id="23"/>
          <p:cNvSpPr txBox="true"/>
          <p:nvPr/>
        </p:nvSpPr>
        <p:spPr>
          <a:xfrm rot="0">
            <a:off x="6158275" y="2510565"/>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Age:</a:t>
            </a:r>
            <a:r>
              <a:rPr lang="en-US" sz="1899">
                <a:solidFill>
                  <a:srgbClr val="000000"/>
                </a:solidFill>
                <a:latin typeface="Open Sauce"/>
                <a:ea typeface="Open Sauce"/>
                <a:cs typeface="Open Sauce"/>
                <a:sym typeface="Open Sauce"/>
              </a:rPr>
              <a:t> 35</a:t>
            </a:r>
          </a:p>
        </p:txBody>
      </p:sp>
      <p:sp>
        <p:nvSpPr>
          <p:cNvPr name="TextBox 24" id="24"/>
          <p:cNvSpPr txBox="true"/>
          <p:nvPr/>
        </p:nvSpPr>
        <p:spPr>
          <a:xfrm rot="0">
            <a:off x="1208934" y="3205316"/>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Pain Points</a:t>
            </a:r>
          </a:p>
        </p:txBody>
      </p:sp>
      <p:sp>
        <p:nvSpPr>
          <p:cNvPr name="TextBox 25" id="25"/>
          <p:cNvSpPr txBox="true"/>
          <p:nvPr/>
        </p:nvSpPr>
        <p:spPr>
          <a:xfrm rot="0">
            <a:off x="12730349" y="3053778"/>
            <a:ext cx="4164423"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My Requirements</a:t>
            </a:r>
          </a:p>
        </p:txBody>
      </p:sp>
      <p:sp>
        <p:nvSpPr>
          <p:cNvPr name="TextBox 26" id="26"/>
          <p:cNvSpPr txBox="true"/>
          <p:nvPr/>
        </p:nvSpPr>
        <p:spPr>
          <a:xfrm rot="0">
            <a:off x="1205598" y="4283604"/>
            <a:ext cx="5954290" cy="5690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No existing 3rd party agencies complies with candidate privacy.</a:t>
            </a:r>
          </a:p>
        </p:txBody>
      </p:sp>
      <p:sp>
        <p:nvSpPr>
          <p:cNvPr name="TextBox 27" id="27"/>
          <p:cNvSpPr txBox="true"/>
          <p:nvPr/>
        </p:nvSpPr>
        <p:spPr>
          <a:xfrm rot="0">
            <a:off x="1205598" y="5049060"/>
            <a:ext cx="5530148" cy="5690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No unified space where hiring managers can view submissions and provide feedback.</a:t>
            </a:r>
          </a:p>
        </p:txBody>
      </p:sp>
      <p:sp>
        <p:nvSpPr>
          <p:cNvPr name="TextBox 28" id="28"/>
          <p:cNvSpPr txBox="true"/>
          <p:nvPr/>
        </p:nvSpPr>
        <p:spPr>
          <a:xfrm rot="0">
            <a:off x="12310541" y="3844785"/>
            <a:ext cx="5692842" cy="5690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candidates to have login and coding interface.</a:t>
            </a:r>
          </a:p>
        </p:txBody>
      </p:sp>
      <p:sp>
        <p:nvSpPr>
          <p:cNvPr name="TextBox 29" id="29"/>
          <p:cNvSpPr txBox="true"/>
          <p:nvPr/>
        </p:nvSpPr>
        <p:spPr>
          <a:xfrm rot="0">
            <a:off x="12310541" y="4568139"/>
            <a:ext cx="5692842" cy="5690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to provide specific permission to specific individual.</a:t>
            </a:r>
          </a:p>
        </p:txBody>
      </p:sp>
      <p:sp>
        <p:nvSpPr>
          <p:cNvPr name="Freeform 30" id="30"/>
          <p:cNvSpPr/>
          <p:nvPr/>
        </p:nvSpPr>
        <p:spPr>
          <a:xfrm flipH="false" flipV="false" rot="0">
            <a:off x="11712716" y="5333595"/>
            <a:ext cx="407325" cy="407325"/>
          </a:xfrm>
          <a:custGeom>
            <a:avLst/>
            <a:gdLst/>
            <a:ahLst/>
            <a:cxnLst/>
            <a:rect r="r" b="b" t="t" l="l"/>
            <a:pathLst>
              <a:path h="407325" w="407325">
                <a:moveTo>
                  <a:pt x="0" y="0"/>
                </a:moveTo>
                <a:lnTo>
                  <a:pt x="407325" y="0"/>
                </a:lnTo>
                <a:lnTo>
                  <a:pt x="407325" y="407325"/>
                </a:lnTo>
                <a:lnTo>
                  <a:pt x="0" y="4073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1" id="31"/>
          <p:cNvSpPr txBox="true"/>
          <p:nvPr/>
        </p:nvSpPr>
        <p:spPr>
          <a:xfrm rot="0">
            <a:off x="12320066" y="5323027"/>
            <a:ext cx="5967934" cy="85483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candidate's coding exam link to automatically expire after a specific time window to ensure time-bound access.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sp>
        <p:nvSpPr>
          <p:cNvPr name="AutoShape 2" id="2"/>
          <p:cNvSpPr/>
          <p:nvPr/>
        </p:nvSpPr>
        <p:spPr>
          <a:xfrm flipV="true">
            <a:off x="0" y="4664220"/>
            <a:ext cx="8144057" cy="5622780"/>
          </a:xfrm>
          <a:prstGeom prst="line">
            <a:avLst/>
          </a:prstGeom>
          <a:ln cap="flat" w="28575">
            <a:solidFill>
              <a:srgbClr val="000000"/>
            </a:solidFill>
            <a:prstDash val="solid"/>
            <a:headEnd type="none" len="sm" w="sm"/>
            <a:tailEnd type="none" len="sm" w="sm"/>
          </a:ln>
        </p:spPr>
      </p:sp>
      <p:sp>
        <p:nvSpPr>
          <p:cNvPr name="AutoShape 3" id="3"/>
          <p:cNvSpPr/>
          <p:nvPr/>
        </p:nvSpPr>
        <p:spPr>
          <a:xfrm>
            <a:off x="0" y="0"/>
            <a:ext cx="8136603" cy="4487267"/>
          </a:xfrm>
          <a:prstGeom prst="line">
            <a:avLst/>
          </a:prstGeom>
          <a:ln cap="flat" w="28575">
            <a:solidFill>
              <a:srgbClr val="000000"/>
            </a:solidFill>
            <a:prstDash val="solid"/>
            <a:headEnd type="none" len="sm" w="sm"/>
            <a:tailEnd type="none" len="sm" w="sm"/>
          </a:ln>
        </p:spPr>
      </p:sp>
      <p:sp>
        <p:nvSpPr>
          <p:cNvPr name="AutoShape 4" id="4"/>
          <p:cNvSpPr/>
          <p:nvPr/>
        </p:nvSpPr>
        <p:spPr>
          <a:xfrm flipH="true">
            <a:off x="10119117" y="0"/>
            <a:ext cx="8168883" cy="4487267"/>
          </a:xfrm>
          <a:prstGeom prst="line">
            <a:avLst/>
          </a:prstGeom>
          <a:ln cap="flat" w="28575">
            <a:solidFill>
              <a:srgbClr val="000000"/>
            </a:solidFill>
            <a:prstDash val="solid"/>
            <a:headEnd type="none" len="sm" w="sm"/>
            <a:tailEnd type="none" len="sm" w="sm"/>
          </a:ln>
        </p:spPr>
      </p:sp>
      <p:sp>
        <p:nvSpPr>
          <p:cNvPr name="AutoShape 5" id="5"/>
          <p:cNvSpPr/>
          <p:nvPr/>
        </p:nvSpPr>
        <p:spPr>
          <a:xfrm flipH="true" flipV="true">
            <a:off x="10119117" y="4664220"/>
            <a:ext cx="8168883" cy="5622780"/>
          </a:xfrm>
          <a:prstGeom prst="line">
            <a:avLst/>
          </a:prstGeom>
          <a:ln cap="flat" w="28575">
            <a:solidFill>
              <a:srgbClr val="000000"/>
            </a:solidFill>
            <a:prstDash val="solid"/>
            <a:headEnd type="none" len="sm" w="sm"/>
            <a:tailEnd type="none" len="sm" w="sm"/>
          </a:ln>
        </p:spPr>
      </p:sp>
      <p:sp>
        <p:nvSpPr>
          <p:cNvPr name="Freeform 6" id="6"/>
          <p:cNvSpPr/>
          <p:nvPr/>
        </p:nvSpPr>
        <p:spPr>
          <a:xfrm flipH="false" flipV="false" rot="0">
            <a:off x="7591470" y="3024280"/>
            <a:ext cx="3293460" cy="3453169"/>
          </a:xfrm>
          <a:custGeom>
            <a:avLst/>
            <a:gdLst/>
            <a:ahLst/>
            <a:cxnLst/>
            <a:rect r="r" b="b" t="t" l="l"/>
            <a:pathLst>
              <a:path h="3453169" w="3293460">
                <a:moveTo>
                  <a:pt x="0" y="0"/>
                </a:moveTo>
                <a:lnTo>
                  <a:pt x="3293460" y="0"/>
                </a:lnTo>
                <a:lnTo>
                  <a:pt x="3293460" y="3453170"/>
                </a:lnTo>
                <a:lnTo>
                  <a:pt x="0" y="3453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78169" y="533689"/>
            <a:ext cx="658986" cy="658986"/>
          </a:xfrm>
          <a:custGeom>
            <a:avLst/>
            <a:gdLst/>
            <a:ahLst/>
            <a:cxnLst/>
            <a:rect r="r" b="b" t="t" l="l"/>
            <a:pathLst>
              <a:path h="658986" w="658986">
                <a:moveTo>
                  <a:pt x="0" y="0"/>
                </a:moveTo>
                <a:lnTo>
                  <a:pt x="658986" y="0"/>
                </a:lnTo>
                <a:lnTo>
                  <a:pt x="658986" y="658986"/>
                </a:lnTo>
                <a:lnTo>
                  <a:pt x="0" y="658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195488" y="7322410"/>
            <a:ext cx="4092512" cy="4114800"/>
          </a:xfrm>
          <a:custGeom>
            <a:avLst/>
            <a:gdLst/>
            <a:ahLst/>
            <a:cxnLst/>
            <a:rect r="r" b="b" t="t" l="l"/>
            <a:pathLst>
              <a:path h="4114800" w="4092512">
                <a:moveTo>
                  <a:pt x="0" y="0"/>
                </a:moveTo>
                <a:lnTo>
                  <a:pt x="4092512" y="0"/>
                </a:lnTo>
                <a:lnTo>
                  <a:pt x="409251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5525254" y="7315829"/>
            <a:ext cx="7237493" cy="1226312"/>
            <a:chOff x="0" y="0"/>
            <a:chExt cx="9649991" cy="1635083"/>
          </a:xfrm>
        </p:grpSpPr>
        <p:sp>
          <p:nvSpPr>
            <p:cNvPr name="TextBox 10" id="10"/>
            <p:cNvSpPr txBox="true"/>
            <p:nvPr/>
          </p:nvSpPr>
          <p:spPr>
            <a:xfrm rot="0">
              <a:off x="762808" y="114300"/>
              <a:ext cx="8887183" cy="1520783"/>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As the Legal Head, I want to ensure the compliance of global privacy laws and ethical standard in HushHush Recruiter System, so that the company avoids legal risks.</a:t>
              </a:r>
            </a:p>
          </p:txBody>
        </p:sp>
        <p:sp>
          <p:nvSpPr>
            <p:cNvPr name="Freeform 11" id="11"/>
            <p:cNvSpPr/>
            <p:nvPr/>
          </p:nvSpPr>
          <p:spPr>
            <a:xfrm flipH="false" flipV="false" rot="0">
              <a:off x="0" y="0"/>
              <a:ext cx="543101" cy="543101"/>
            </a:xfrm>
            <a:custGeom>
              <a:avLst/>
              <a:gdLst/>
              <a:ahLst/>
              <a:cxnLst/>
              <a:rect r="r" b="b" t="t" l="l"/>
              <a:pathLst>
                <a:path h="543101" w="543101">
                  <a:moveTo>
                    <a:pt x="0" y="0"/>
                  </a:moveTo>
                  <a:lnTo>
                    <a:pt x="543101" y="0"/>
                  </a:lnTo>
                  <a:lnTo>
                    <a:pt x="543101" y="543101"/>
                  </a:lnTo>
                  <a:lnTo>
                    <a:pt x="0" y="5431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2" id="12"/>
          <p:cNvSpPr/>
          <p:nvPr/>
        </p:nvSpPr>
        <p:spPr>
          <a:xfrm flipH="false" flipV="false" rot="0">
            <a:off x="633492" y="4283604"/>
            <a:ext cx="407325" cy="407325"/>
          </a:xfrm>
          <a:custGeom>
            <a:avLst/>
            <a:gdLst/>
            <a:ahLst/>
            <a:cxnLst/>
            <a:rect r="r" b="b" t="t" l="l"/>
            <a:pathLst>
              <a:path h="407325" w="407325">
                <a:moveTo>
                  <a:pt x="0" y="0"/>
                </a:moveTo>
                <a:lnTo>
                  <a:pt x="407325" y="0"/>
                </a:lnTo>
                <a:lnTo>
                  <a:pt x="407325" y="407326"/>
                </a:lnTo>
                <a:lnTo>
                  <a:pt x="0" y="4073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1819389" y="4209181"/>
            <a:ext cx="407325" cy="407325"/>
          </a:xfrm>
          <a:custGeom>
            <a:avLst/>
            <a:gdLst/>
            <a:ahLst/>
            <a:cxnLst/>
            <a:rect r="r" b="b" t="t" l="l"/>
            <a:pathLst>
              <a:path h="407325" w="407325">
                <a:moveTo>
                  <a:pt x="0" y="0"/>
                </a:moveTo>
                <a:lnTo>
                  <a:pt x="407326" y="0"/>
                </a:lnTo>
                <a:lnTo>
                  <a:pt x="407326" y="407325"/>
                </a:lnTo>
                <a:lnTo>
                  <a:pt x="0" y="4073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1819389" y="5264117"/>
            <a:ext cx="407325" cy="407325"/>
          </a:xfrm>
          <a:custGeom>
            <a:avLst/>
            <a:gdLst/>
            <a:ahLst/>
            <a:cxnLst/>
            <a:rect r="r" b="b" t="t" l="l"/>
            <a:pathLst>
              <a:path h="407325" w="407325">
                <a:moveTo>
                  <a:pt x="0" y="0"/>
                </a:moveTo>
                <a:lnTo>
                  <a:pt x="407326" y="0"/>
                </a:lnTo>
                <a:lnTo>
                  <a:pt x="407326" y="407325"/>
                </a:lnTo>
                <a:lnTo>
                  <a:pt x="0" y="4073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826126">
            <a:off x="4692041" y="-342730"/>
            <a:ext cx="1100727" cy="1424889"/>
          </a:xfrm>
          <a:custGeom>
            <a:avLst/>
            <a:gdLst/>
            <a:ahLst/>
            <a:cxnLst/>
            <a:rect r="r" b="b" t="t" l="l"/>
            <a:pathLst>
              <a:path h="1424889" w="1100727">
                <a:moveTo>
                  <a:pt x="0" y="0"/>
                </a:moveTo>
                <a:lnTo>
                  <a:pt x="1100727" y="0"/>
                </a:lnTo>
                <a:lnTo>
                  <a:pt x="1100727" y="1424889"/>
                </a:lnTo>
                <a:lnTo>
                  <a:pt x="0" y="142488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8342573" y="3358043"/>
            <a:ext cx="1602854" cy="2404281"/>
          </a:xfrm>
          <a:custGeom>
            <a:avLst/>
            <a:gdLst/>
            <a:ahLst/>
            <a:cxnLst/>
            <a:rect r="r" b="b" t="t" l="l"/>
            <a:pathLst>
              <a:path h="2404281" w="1602854">
                <a:moveTo>
                  <a:pt x="0" y="0"/>
                </a:moveTo>
                <a:lnTo>
                  <a:pt x="1602854" y="0"/>
                </a:lnTo>
                <a:lnTo>
                  <a:pt x="1602854" y="2404281"/>
                </a:lnTo>
                <a:lnTo>
                  <a:pt x="0" y="24042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7423881" y="6590150"/>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User Story</a:t>
            </a:r>
          </a:p>
        </p:txBody>
      </p:sp>
      <p:sp>
        <p:nvSpPr>
          <p:cNvPr name="TextBox 18" id="18"/>
          <p:cNvSpPr txBox="true"/>
          <p:nvPr/>
        </p:nvSpPr>
        <p:spPr>
          <a:xfrm rot="0">
            <a:off x="3437172" y="16619428"/>
            <a:ext cx="3722716" cy="1018508"/>
          </a:xfrm>
          <a:prstGeom prst="rect">
            <a:avLst/>
          </a:prstGeom>
        </p:spPr>
        <p:txBody>
          <a:bodyPr anchor="t" rtlCol="false" tIns="0" lIns="0" bIns="0" rIns="0">
            <a:spAutoFit/>
          </a:bodyPr>
          <a:lstStyle/>
          <a:p>
            <a:pPr algn="ctr">
              <a:lnSpc>
                <a:spcPts val="2074"/>
              </a:lnSpc>
            </a:pPr>
            <a:r>
              <a:rPr lang="en-US" sz="1714">
                <a:solidFill>
                  <a:srgbClr val="000000"/>
                </a:solidFill>
                <a:latin typeface="Open Sauce"/>
                <a:ea typeface="Open Sauce"/>
                <a:cs typeface="Open Sauce"/>
                <a:sym typeface="Open Sauce"/>
              </a:rPr>
              <a:t>Lorem ipsum dolor sit amet, consectetur adipiscing elit. Nunc fermentum urna ac dolor aliquam, vitae ultricies diam accumsan.</a:t>
            </a:r>
          </a:p>
        </p:txBody>
      </p:sp>
      <p:sp>
        <p:nvSpPr>
          <p:cNvPr name="TextBox 19" id="19"/>
          <p:cNvSpPr txBox="true"/>
          <p:nvPr/>
        </p:nvSpPr>
        <p:spPr>
          <a:xfrm rot="0">
            <a:off x="5692842" y="347808"/>
            <a:ext cx="6902316" cy="1123950"/>
          </a:xfrm>
          <a:prstGeom prst="rect">
            <a:avLst/>
          </a:prstGeom>
        </p:spPr>
        <p:txBody>
          <a:bodyPr anchor="t" rtlCol="false" tIns="0" lIns="0" bIns="0" rIns="0">
            <a:spAutoFit/>
          </a:bodyPr>
          <a:lstStyle/>
          <a:p>
            <a:pPr algn="l" marL="0" indent="0" lvl="1">
              <a:lnSpc>
                <a:spcPts val="8100"/>
              </a:lnSpc>
              <a:spcBef>
                <a:spcPct val="0"/>
              </a:spcBef>
            </a:pPr>
            <a:r>
              <a:rPr lang="en-US" b="true" sz="9000" spc="-450">
                <a:solidFill>
                  <a:srgbClr val="000000"/>
                </a:solidFill>
                <a:latin typeface="DM Sans Bold"/>
                <a:ea typeface="DM Sans Bold"/>
                <a:cs typeface="DM Sans Bold"/>
                <a:sym typeface="DM Sans Bold"/>
              </a:rPr>
              <a:t>User Persona</a:t>
            </a:r>
          </a:p>
        </p:txBody>
      </p:sp>
      <p:sp>
        <p:nvSpPr>
          <p:cNvPr name="TextBox 20" id="20"/>
          <p:cNvSpPr txBox="true"/>
          <p:nvPr/>
        </p:nvSpPr>
        <p:spPr>
          <a:xfrm rot="0">
            <a:off x="6264948" y="1559335"/>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Name:</a:t>
            </a:r>
            <a:r>
              <a:rPr lang="en-US" sz="1899">
                <a:solidFill>
                  <a:srgbClr val="000000"/>
                </a:solidFill>
                <a:latin typeface="Open Sauce"/>
                <a:ea typeface="Open Sauce"/>
                <a:cs typeface="Open Sauce"/>
                <a:sym typeface="Open Sauce"/>
              </a:rPr>
              <a:t> Maya Singh</a:t>
            </a:r>
          </a:p>
        </p:txBody>
      </p:sp>
      <p:sp>
        <p:nvSpPr>
          <p:cNvPr name="TextBox 21" id="21"/>
          <p:cNvSpPr txBox="true"/>
          <p:nvPr/>
        </p:nvSpPr>
        <p:spPr>
          <a:xfrm rot="0">
            <a:off x="6264948" y="2034950"/>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Position:</a:t>
            </a:r>
            <a:r>
              <a:rPr lang="en-US" sz="1899">
                <a:solidFill>
                  <a:srgbClr val="000000"/>
                </a:solidFill>
                <a:latin typeface="Open Sauce"/>
                <a:ea typeface="Open Sauce"/>
                <a:cs typeface="Open Sauce"/>
                <a:sym typeface="Open Sauce"/>
              </a:rPr>
              <a:t> Legal Head</a:t>
            </a:r>
          </a:p>
        </p:txBody>
      </p:sp>
      <p:sp>
        <p:nvSpPr>
          <p:cNvPr name="TextBox 22" id="22"/>
          <p:cNvSpPr txBox="true"/>
          <p:nvPr/>
        </p:nvSpPr>
        <p:spPr>
          <a:xfrm rot="0">
            <a:off x="6264948" y="2510565"/>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Age:</a:t>
            </a:r>
            <a:r>
              <a:rPr lang="en-US" sz="1899">
                <a:solidFill>
                  <a:srgbClr val="000000"/>
                </a:solidFill>
                <a:latin typeface="Open Sauce"/>
                <a:ea typeface="Open Sauce"/>
                <a:cs typeface="Open Sauce"/>
                <a:sym typeface="Open Sauce"/>
              </a:rPr>
              <a:t> 45</a:t>
            </a:r>
          </a:p>
        </p:txBody>
      </p:sp>
      <p:sp>
        <p:nvSpPr>
          <p:cNvPr name="TextBox 23" id="23"/>
          <p:cNvSpPr txBox="true"/>
          <p:nvPr/>
        </p:nvSpPr>
        <p:spPr>
          <a:xfrm rot="0">
            <a:off x="1208934" y="3205316"/>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Pain Points</a:t>
            </a:r>
          </a:p>
        </p:txBody>
      </p:sp>
      <p:sp>
        <p:nvSpPr>
          <p:cNvPr name="TextBox 24" id="24"/>
          <p:cNvSpPr txBox="true"/>
          <p:nvPr/>
        </p:nvSpPr>
        <p:spPr>
          <a:xfrm rot="0">
            <a:off x="12730349" y="3205316"/>
            <a:ext cx="4164423"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My Requirements</a:t>
            </a:r>
          </a:p>
        </p:txBody>
      </p:sp>
      <p:sp>
        <p:nvSpPr>
          <p:cNvPr name="TextBox 25" id="25"/>
          <p:cNvSpPr txBox="true"/>
          <p:nvPr/>
        </p:nvSpPr>
        <p:spPr>
          <a:xfrm rot="0">
            <a:off x="1205598" y="4369329"/>
            <a:ext cx="5954290" cy="11405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Risk of violating data privacy regulations (e.g., GDPR (General Data Protection Regulation), GPC (Global Privacy Control), EDPB (European Data Protection Board)).</a:t>
            </a:r>
          </a:p>
        </p:txBody>
      </p:sp>
      <p:sp>
        <p:nvSpPr>
          <p:cNvPr name="TextBox 26" id="26"/>
          <p:cNvSpPr txBox="true"/>
          <p:nvPr/>
        </p:nvSpPr>
        <p:spPr>
          <a:xfrm rot="0">
            <a:off x="12417215" y="4257273"/>
            <a:ext cx="5692842" cy="85483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to ensure candidates are notified about their data usage and take their consent wherever required.</a:t>
            </a:r>
          </a:p>
        </p:txBody>
      </p:sp>
      <p:sp>
        <p:nvSpPr>
          <p:cNvPr name="TextBox 27" id="27"/>
          <p:cNvSpPr txBox="true"/>
          <p:nvPr/>
        </p:nvSpPr>
        <p:spPr>
          <a:xfrm rot="0">
            <a:off x="12417215" y="5244033"/>
            <a:ext cx="5692842" cy="85483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to decide how long candidate data is stored as per company's guideline and ensure it is not misused.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BF7"/>
        </a:solidFill>
      </p:bgPr>
    </p:bg>
    <p:spTree>
      <p:nvGrpSpPr>
        <p:cNvPr id="1" name=""/>
        <p:cNvGrpSpPr/>
        <p:nvPr/>
      </p:nvGrpSpPr>
      <p:grpSpPr>
        <a:xfrm>
          <a:off x="0" y="0"/>
          <a:ext cx="0" cy="0"/>
          <a:chOff x="0" y="0"/>
          <a:chExt cx="0" cy="0"/>
        </a:xfrm>
      </p:grpSpPr>
      <p:sp>
        <p:nvSpPr>
          <p:cNvPr name="AutoShape 2" id="2"/>
          <p:cNvSpPr/>
          <p:nvPr/>
        </p:nvSpPr>
        <p:spPr>
          <a:xfrm flipH="true">
            <a:off x="10119117" y="0"/>
            <a:ext cx="8168883" cy="4487267"/>
          </a:xfrm>
          <a:prstGeom prst="line">
            <a:avLst/>
          </a:prstGeom>
          <a:ln cap="flat" w="28575">
            <a:solidFill>
              <a:srgbClr val="000000"/>
            </a:solidFill>
            <a:prstDash val="solid"/>
            <a:headEnd type="none" len="sm" w="sm"/>
            <a:tailEnd type="none" len="sm" w="sm"/>
          </a:ln>
        </p:spPr>
      </p:sp>
      <p:sp>
        <p:nvSpPr>
          <p:cNvPr name="AutoShape 3" id="3"/>
          <p:cNvSpPr/>
          <p:nvPr/>
        </p:nvSpPr>
        <p:spPr>
          <a:xfrm flipH="true" flipV="true">
            <a:off x="10119117" y="4664220"/>
            <a:ext cx="8168883" cy="5622780"/>
          </a:xfrm>
          <a:prstGeom prst="line">
            <a:avLst/>
          </a:prstGeom>
          <a:ln cap="flat" w="28575">
            <a:solidFill>
              <a:srgbClr val="000000"/>
            </a:solidFill>
            <a:prstDash val="solid"/>
            <a:headEnd type="none" len="sm" w="sm"/>
            <a:tailEnd type="none" len="sm" w="sm"/>
          </a:ln>
        </p:spPr>
      </p:sp>
      <p:sp>
        <p:nvSpPr>
          <p:cNvPr name="AutoShape 4" id="4"/>
          <p:cNvSpPr/>
          <p:nvPr/>
        </p:nvSpPr>
        <p:spPr>
          <a:xfrm flipV="true">
            <a:off x="0" y="4664220"/>
            <a:ext cx="8144057" cy="5622780"/>
          </a:xfrm>
          <a:prstGeom prst="line">
            <a:avLst/>
          </a:prstGeom>
          <a:ln cap="flat" w="28575">
            <a:solidFill>
              <a:srgbClr val="000000"/>
            </a:solidFill>
            <a:prstDash val="solid"/>
            <a:headEnd type="none" len="sm" w="sm"/>
            <a:tailEnd type="none" len="sm" w="sm"/>
          </a:ln>
        </p:spPr>
      </p:sp>
      <p:sp>
        <p:nvSpPr>
          <p:cNvPr name="AutoShape 5" id="5"/>
          <p:cNvSpPr/>
          <p:nvPr/>
        </p:nvSpPr>
        <p:spPr>
          <a:xfrm>
            <a:off x="0" y="0"/>
            <a:ext cx="8136603" cy="4487267"/>
          </a:xfrm>
          <a:prstGeom prst="line">
            <a:avLst/>
          </a:prstGeom>
          <a:ln cap="flat" w="28575">
            <a:solidFill>
              <a:srgbClr val="000000"/>
            </a:solidFill>
            <a:prstDash val="solid"/>
            <a:headEnd type="none" len="sm" w="sm"/>
            <a:tailEnd type="none" len="sm" w="sm"/>
          </a:ln>
        </p:spPr>
      </p:sp>
      <p:sp>
        <p:nvSpPr>
          <p:cNvPr name="Freeform 6" id="6"/>
          <p:cNvSpPr/>
          <p:nvPr/>
        </p:nvSpPr>
        <p:spPr>
          <a:xfrm flipH="false" flipV="false" rot="0">
            <a:off x="7591470" y="3024280"/>
            <a:ext cx="3293460" cy="3453169"/>
          </a:xfrm>
          <a:custGeom>
            <a:avLst/>
            <a:gdLst/>
            <a:ahLst/>
            <a:cxnLst/>
            <a:rect r="r" b="b" t="t" l="l"/>
            <a:pathLst>
              <a:path h="3453169" w="3293460">
                <a:moveTo>
                  <a:pt x="0" y="0"/>
                </a:moveTo>
                <a:lnTo>
                  <a:pt x="3293460" y="0"/>
                </a:lnTo>
                <a:lnTo>
                  <a:pt x="3293460" y="3453170"/>
                </a:lnTo>
                <a:lnTo>
                  <a:pt x="0" y="3453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78169" y="533689"/>
            <a:ext cx="658986" cy="658986"/>
          </a:xfrm>
          <a:custGeom>
            <a:avLst/>
            <a:gdLst/>
            <a:ahLst/>
            <a:cxnLst/>
            <a:rect r="r" b="b" t="t" l="l"/>
            <a:pathLst>
              <a:path h="658986" w="658986">
                <a:moveTo>
                  <a:pt x="0" y="0"/>
                </a:moveTo>
                <a:lnTo>
                  <a:pt x="658986" y="0"/>
                </a:lnTo>
                <a:lnTo>
                  <a:pt x="658986" y="658986"/>
                </a:lnTo>
                <a:lnTo>
                  <a:pt x="0" y="658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5525254" y="7601579"/>
            <a:ext cx="7237493" cy="654812"/>
            <a:chOff x="0" y="0"/>
            <a:chExt cx="9649991" cy="873083"/>
          </a:xfrm>
        </p:grpSpPr>
        <p:sp>
          <p:nvSpPr>
            <p:cNvPr name="TextBox 9" id="9"/>
            <p:cNvSpPr txBox="true"/>
            <p:nvPr/>
          </p:nvSpPr>
          <p:spPr>
            <a:xfrm rot="0">
              <a:off x="762808" y="114300"/>
              <a:ext cx="8887183" cy="758783"/>
            </a:xfrm>
            <a:prstGeom prst="rect">
              <a:avLst/>
            </a:prstGeom>
          </p:spPr>
          <p:txBody>
            <a:bodyPr anchor="t" rtlCol="false" tIns="0" lIns="0" bIns="0" rIns="0">
              <a:spAutoFit/>
            </a:bodyPr>
            <a:lstStyle/>
            <a:p>
              <a:pPr algn="l" marL="0" indent="0" lvl="0">
                <a:lnSpc>
                  <a:spcPts val="2298"/>
                </a:lnSpc>
                <a:spcBef>
                  <a:spcPct val="0"/>
                </a:spcBef>
              </a:pPr>
              <a:r>
                <a:rPr lang="en-US" sz="1899" u="none">
                  <a:solidFill>
                    <a:srgbClr val="000000"/>
                  </a:solidFill>
                  <a:latin typeface="Open Sauce"/>
                  <a:ea typeface="Open Sauce"/>
                  <a:cs typeface="Open Sauce"/>
                  <a:sym typeface="Open Sauce"/>
                </a:rPr>
                <a:t>As a candidate, I should be notified about my selection so that I would be able to attempt the coding exam.</a:t>
              </a:r>
            </a:p>
          </p:txBody>
        </p:sp>
        <p:sp>
          <p:nvSpPr>
            <p:cNvPr name="Freeform 10" id="10"/>
            <p:cNvSpPr/>
            <p:nvPr/>
          </p:nvSpPr>
          <p:spPr>
            <a:xfrm flipH="false" flipV="false" rot="0">
              <a:off x="0" y="0"/>
              <a:ext cx="543101" cy="543101"/>
            </a:xfrm>
            <a:custGeom>
              <a:avLst/>
              <a:gdLst/>
              <a:ahLst/>
              <a:cxnLst/>
              <a:rect r="r" b="b" t="t" l="l"/>
              <a:pathLst>
                <a:path h="543101" w="543101">
                  <a:moveTo>
                    <a:pt x="0" y="0"/>
                  </a:moveTo>
                  <a:lnTo>
                    <a:pt x="543101" y="0"/>
                  </a:lnTo>
                  <a:lnTo>
                    <a:pt x="543101" y="543101"/>
                  </a:lnTo>
                  <a:lnTo>
                    <a:pt x="0" y="5431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0">
            <a:off x="636347" y="4394802"/>
            <a:ext cx="407325" cy="407325"/>
          </a:xfrm>
          <a:custGeom>
            <a:avLst/>
            <a:gdLst/>
            <a:ahLst/>
            <a:cxnLst/>
            <a:rect r="r" b="b" t="t" l="l"/>
            <a:pathLst>
              <a:path h="407325" w="407325">
                <a:moveTo>
                  <a:pt x="0" y="0"/>
                </a:moveTo>
                <a:lnTo>
                  <a:pt x="407326" y="0"/>
                </a:lnTo>
                <a:lnTo>
                  <a:pt x="407326" y="407326"/>
                </a:lnTo>
                <a:lnTo>
                  <a:pt x="0" y="4073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1721186" y="4144133"/>
            <a:ext cx="407325" cy="407325"/>
          </a:xfrm>
          <a:custGeom>
            <a:avLst/>
            <a:gdLst/>
            <a:ahLst/>
            <a:cxnLst/>
            <a:rect r="r" b="b" t="t" l="l"/>
            <a:pathLst>
              <a:path h="407325" w="407325">
                <a:moveTo>
                  <a:pt x="0" y="0"/>
                </a:moveTo>
                <a:lnTo>
                  <a:pt x="407325" y="0"/>
                </a:lnTo>
                <a:lnTo>
                  <a:pt x="407325" y="407326"/>
                </a:lnTo>
                <a:lnTo>
                  <a:pt x="0" y="4073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1721186" y="5282951"/>
            <a:ext cx="407325" cy="407325"/>
          </a:xfrm>
          <a:custGeom>
            <a:avLst/>
            <a:gdLst/>
            <a:ahLst/>
            <a:cxnLst/>
            <a:rect r="r" b="b" t="t" l="l"/>
            <a:pathLst>
              <a:path h="407325" w="407325">
                <a:moveTo>
                  <a:pt x="0" y="0"/>
                </a:moveTo>
                <a:lnTo>
                  <a:pt x="407325" y="0"/>
                </a:lnTo>
                <a:lnTo>
                  <a:pt x="407325" y="407325"/>
                </a:lnTo>
                <a:lnTo>
                  <a:pt x="0" y="4073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826126">
            <a:off x="4692041" y="-342730"/>
            <a:ext cx="1100727" cy="1424889"/>
          </a:xfrm>
          <a:custGeom>
            <a:avLst/>
            <a:gdLst/>
            <a:ahLst/>
            <a:cxnLst/>
            <a:rect r="r" b="b" t="t" l="l"/>
            <a:pathLst>
              <a:path h="1424889" w="1100727">
                <a:moveTo>
                  <a:pt x="0" y="0"/>
                </a:moveTo>
                <a:lnTo>
                  <a:pt x="1100727" y="0"/>
                </a:lnTo>
                <a:lnTo>
                  <a:pt x="1100727" y="1424889"/>
                </a:lnTo>
                <a:lnTo>
                  <a:pt x="0" y="14248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8466312" y="3432337"/>
            <a:ext cx="1355376" cy="2543873"/>
          </a:xfrm>
          <a:custGeom>
            <a:avLst/>
            <a:gdLst/>
            <a:ahLst/>
            <a:cxnLst/>
            <a:rect r="r" b="b" t="t" l="l"/>
            <a:pathLst>
              <a:path h="2543873" w="1355376">
                <a:moveTo>
                  <a:pt x="0" y="0"/>
                </a:moveTo>
                <a:lnTo>
                  <a:pt x="1355376" y="0"/>
                </a:lnTo>
                <a:lnTo>
                  <a:pt x="1355376" y="2543874"/>
                </a:lnTo>
                <a:lnTo>
                  <a:pt x="0" y="25438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4853660" y="6477450"/>
            <a:ext cx="4082224" cy="4114800"/>
          </a:xfrm>
          <a:custGeom>
            <a:avLst/>
            <a:gdLst/>
            <a:ahLst/>
            <a:cxnLst/>
            <a:rect r="r" b="b" t="t" l="l"/>
            <a:pathLst>
              <a:path h="4114800" w="4082224">
                <a:moveTo>
                  <a:pt x="0" y="0"/>
                </a:moveTo>
                <a:lnTo>
                  <a:pt x="4082224" y="0"/>
                </a:lnTo>
                <a:lnTo>
                  <a:pt x="4082224"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7423881" y="6590150"/>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User Story</a:t>
            </a:r>
          </a:p>
        </p:txBody>
      </p:sp>
      <p:sp>
        <p:nvSpPr>
          <p:cNvPr name="TextBox 18" id="18"/>
          <p:cNvSpPr txBox="true"/>
          <p:nvPr/>
        </p:nvSpPr>
        <p:spPr>
          <a:xfrm rot="0">
            <a:off x="3437172" y="16619428"/>
            <a:ext cx="3722716" cy="1018508"/>
          </a:xfrm>
          <a:prstGeom prst="rect">
            <a:avLst/>
          </a:prstGeom>
        </p:spPr>
        <p:txBody>
          <a:bodyPr anchor="t" rtlCol="false" tIns="0" lIns="0" bIns="0" rIns="0">
            <a:spAutoFit/>
          </a:bodyPr>
          <a:lstStyle/>
          <a:p>
            <a:pPr algn="ctr">
              <a:lnSpc>
                <a:spcPts val="2074"/>
              </a:lnSpc>
            </a:pPr>
            <a:r>
              <a:rPr lang="en-US" sz="1714">
                <a:solidFill>
                  <a:srgbClr val="000000"/>
                </a:solidFill>
                <a:latin typeface="Open Sauce"/>
                <a:ea typeface="Open Sauce"/>
                <a:cs typeface="Open Sauce"/>
                <a:sym typeface="Open Sauce"/>
              </a:rPr>
              <a:t>Lorem ipsum dolor sit amet, consectetur adipiscing elit. Nunc fermentum urna ac dolor aliquam, vitae ultricies diam accumsan.</a:t>
            </a:r>
          </a:p>
        </p:txBody>
      </p:sp>
      <p:sp>
        <p:nvSpPr>
          <p:cNvPr name="TextBox 19" id="19"/>
          <p:cNvSpPr txBox="true"/>
          <p:nvPr/>
        </p:nvSpPr>
        <p:spPr>
          <a:xfrm rot="0">
            <a:off x="5692842" y="368710"/>
            <a:ext cx="6902316" cy="1123950"/>
          </a:xfrm>
          <a:prstGeom prst="rect">
            <a:avLst/>
          </a:prstGeom>
        </p:spPr>
        <p:txBody>
          <a:bodyPr anchor="t" rtlCol="false" tIns="0" lIns="0" bIns="0" rIns="0">
            <a:spAutoFit/>
          </a:bodyPr>
          <a:lstStyle/>
          <a:p>
            <a:pPr algn="l" marL="0" indent="0" lvl="1">
              <a:lnSpc>
                <a:spcPts val="8100"/>
              </a:lnSpc>
              <a:spcBef>
                <a:spcPct val="0"/>
              </a:spcBef>
            </a:pPr>
            <a:r>
              <a:rPr lang="en-US" b="true" sz="9000" spc="-450">
                <a:solidFill>
                  <a:srgbClr val="000000"/>
                </a:solidFill>
                <a:latin typeface="DM Sans Bold"/>
                <a:ea typeface="DM Sans Bold"/>
                <a:cs typeface="DM Sans Bold"/>
                <a:sym typeface="DM Sans Bold"/>
              </a:rPr>
              <a:t>User Persona</a:t>
            </a:r>
          </a:p>
        </p:txBody>
      </p:sp>
      <p:sp>
        <p:nvSpPr>
          <p:cNvPr name="TextBox 20" id="20"/>
          <p:cNvSpPr txBox="true"/>
          <p:nvPr/>
        </p:nvSpPr>
        <p:spPr>
          <a:xfrm rot="0">
            <a:off x="6264948" y="1559335"/>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Name:</a:t>
            </a:r>
            <a:r>
              <a:rPr lang="en-US" sz="1899">
                <a:solidFill>
                  <a:srgbClr val="000000"/>
                </a:solidFill>
                <a:latin typeface="Open Sauce"/>
                <a:ea typeface="Open Sauce"/>
                <a:cs typeface="Open Sauce"/>
                <a:sym typeface="Open Sauce"/>
              </a:rPr>
              <a:t> Rahul Modi</a:t>
            </a:r>
          </a:p>
        </p:txBody>
      </p:sp>
      <p:sp>
        <p:nvSpPr>
          <p:cNvPr name="TextBox 21" id="21"/>
          <p:cNvSpPr txBox="true"/>
          <p:nvPr/>
        </p:nvSpPr>
        <p:spPr>
          <a:xfrm rot="0">
            <a:off x="6264948" y="2034950"/>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Position:</a:t>
            </a:r>
            <a:r>
              <a:rPr lang="en-US" sz="1899">
                <a:solidFill>
                  <a:srgbClr val="000000"/>
                </a:solidFill>
                <a:latin typeface="Open Sauce"/>
                <a:ea typeface="Open Sauce"/>
                <a:cs typeface="Open Sauce"/>
                <a:sym typeface="Open Sauce"/>
              </a:rPr>
              <a:t> Candidate</a:t>
            </a:r>
          </a:p>
        </p:txBody>
      </p:sp>
      <p:sp>
        <p:nvSpPr>
          <p:cNvPr name="TextBox 22" id="22"/>
          <p:cNvSpPr txBox="true"/>
          <p:nvPr/>
        </p:nvSpPr>
        <p:spPr>
          <a:xfrm rot="0">
            <a:off x="6264948" y="2510565"/>
            <a:ext cx="5758104" cy="323215"/>
          </a:xfrm>
          <a:prstGeom prst="rect">
            <a:avLst/>
          </a:prstGeom>
        </p:spPr>
        <p:txBody>
          <a:bodyPr anchor="t" rtlCol="false" tIns="0" lIns="0" bIns="0" rIns="0">
            <a:spAutoFit/>
          </a:bodyPr>
          <a:lstStyle/>
          <a:p>
            <a:pPr algn="ctr">
              <a:lnSpc>
                <a:spcPts val="2659"/>
              </a:lnSpc>
            </a:pPr>
            <a:r>
              <a:rPr lang="en-US" b="true" sz="1899">
                <a:solidFill>
                  <a:srgbClr val="000000"/>
                </a:solidFill>
                <a:latin typeface="Open Sauce Bold"/>
                <a:ea typeface="Open Sauce Bold"/>
                <a:cs typeface="Open Sauce Bold"/>
                <a:sym typeface="Open Sauce Bold"/>
              </a:rPr>
              <a:t>Age:</a:t>
            </a:r>
            <a:r>
              <a:rPr lang="en-US" sz="1899">
                <a:solidFill>
                  <a:srgbClr val="000000"/>
                </a:solidFill>
                <a:latin typeface="Open Sauce"/>
                <a:ea typeface="Open Sauce"/>
                <a:cs typeface="Open Sauce"/>
                <a:sym typeface="Open Sauce"/>
              </a:rPr>
              <a:t> 31</a:t>
            </a:r>
          </a:p>
        </p:txBody>
      </p:sp>
      <p:sp>
        <p:nvSpPr>
          <p:cNvPr name="TextBox 23" id="23"/>
          <p:cNvSpPr txBox="true"/>
          <p:nvPr/>
        </p:nvSpPr>
        <p:spPr>
          <a:xfrm rot="0">
            <a:off x="1208934" y="3205316"/>
            <a:ext cx="3440237"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Pain Points</a:t>
            </a:r>
          </a:p>
        </p:txBody>
      </p:sp>
      <p:sp>
        <p:nvSpPr>
          <p:cNvPr name="TextBox 24" id="24"/>
          <p:cNvSpPr txBox="true"/>
          <p:nvPr/>
        </p:nvSpPr>
        <p:spPr>
          <a:xfrm rot="0">
            <a:off x="12730349" y="3205316"/>
            <a:ext cx="4164423" cy="630429"/>
          </a:xfrm>
          <a:prstGeom prst="rect">
            <a:avLst/>
          </a:prstGeom>
        </p:spPr>
        <p:txBody>
          <a:bodyPr anchor="t" rtlCol="false" tIns="0" lIns="0" bIns="0" rIns="0">
            <a:spAutoFit/>
          </a:bodyPr>
          <a:lstStyle/>
          <a:p>
            <a:pPr algn="ctr">
              <a:lnSpc>
                <a:spcPts val="5151"/>
              </a:lnSpc>
            </a:pPr>
            <a:r>
              <a:rPr lang="en-US" b="true" sz="3679">
                <a:solidFill>
                  <a:srgbClr val="000000"/>
                </a:solidFill>
                <a:latin typeface="Open Sauce Bold"/>
                <a:ea typeface="Open Sauce Bold"/>
                <a:cs typeface="Open Sauce Bold"/>
                <a:sym typeface="Open Sauce Bold"/>
              </a:rPr>
              <a:t>My Requirements</a:t>
            </a:r>
          </a:p>
        </p:txBody>
      </p:sp>
      <p:sp>
        <p:nvSpPr>
          <p:cNvPr name="TextBox 25" id="25"/>
          <p:cNvSpPr txBox="true"/>
          <p:nvPr/>
        </p:nvSpPr>
        <p:spPr>
          <a:xfrm rot="0">
            <a:off x="1205598" y="4369329"/>
            <a:ext cx="6665387" cy="85483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There have been data privacy issues with recruiting agency, such as data being sold to third party companies.</a:t>
            </a:r>
          </a:p>
        </p:txBody>
      </p:sp>
      <p:sp>
        <p:nvSpPr>
          <p:cNvPr name="TextBox 26" id="26"/>
          <p:cNvSpPr txBox="true"/>
          <p:nvPr/>
        </p:nvSpPr>
        <p:spPr>
          <a:xfrm rot="0">
            <a:off x="12293292" y="4229858"/>
            <a:ext cx="5692842" cy="85483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to receive my login credentials and access to the platform so that I can attempt my exam.</a:t>
            </a:r>
          </a:p>
        </p:txBody>
      </p:sp>
      <p:sp>
        <p:nvSpPr>
          <p:cNvPr name="TextBox 27" id="27"/>
          <p:cNvSpPr txBox="true"/>
          <p:nvPr/>
        </p:nvSpPr>
        <p:spPr>
          <a:xfrm rot="0">
            <a:off x="12293292" y="5246525"/>
            <a:ext cx="5692842" cy="569087"/>
          </a:xfrm>
          <a:prstGeom prst="rect">
            <a:avLst/>
          </a:prstGeom>
        </p:spPr>
        <p:txBody>
          <a:bodyPr anchor="t" rtlCol="false" tIns="0" lIns="0" bIns="0" rIns="0">
            <a:spAutoFit/>
          </a:bodyPr>
          <a:lstStyle/>
          <a:p>
            <a:pPr algn="l" marL="0" indent="0" lvl="0">
              <a:lnSpc>
                <a:spcPts val="2298"/>
              </a:lnSpc>
              <a:spcBef>
                <a:spcPct val="0"/>
              </a:spcBef>
            </a:pPr>
            <a:r>
              <a:rPr lang="en-US" sz="1899">
                <a:solidFill>
                  <a:srgbClr val="000000"/>
                </a:solidFill>
                <a:latin typeface="Open Sauce"/>
                <a:ea typeface="Open Sauce"/>
                <a:cs typeface="Open Sauce"/>
                <a:sym typeface="Open Sauce"/>
              </a:rPr>
              <a:t>I want to ensure that private data is handled responsibly and never misused.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6078" y="369714"/>
            <a:ext cx="3766338" cy="658986"/>
            <a:chOff x="0" y="0"/>
            <a:chExt cx="5021784" cy="878648"/>
          </a:xfrm>
        </p:grpSpPr>
        <p:sp>
          <p:nvSpPr>
            <p:cNvPr name="Freeform 3" id="3"/>
            <p:cNvSpPr/>
            <p:nvPr/>
          </p:nvSpPr>
          <p:spPr>
            <a:xfrm flipH="false" flipV="false" rot="0">
              <a:off x="0" y="0"/>
              <a:ext cx="878648" cy="878648"/>
            </a:xfrm>
            <a:custGeom>
              <a:avLst/>
              <a:gdLst/>
              <a:ahLst/>
              <a:cxnLst/>
              <a:rect r="r" b="b" t="t" l="l"/>
              <a:pathLst>
                <a:path h="878648" w="878648">
                  <a:moveTo>
                    <a:pt x="0" y="0"/>
                  </a:moveTo>
                  <a:lnTo>
                    <a:pt x="878648" y="0"/>
                  </a:lnTo>
                  <a:lnTo>
                    <a:pt x="878648" y="878648"/>
                  </a:lnTo>
                  <a:lnTo>
                    <a:pt x="0" y="8786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18827" y="220122"/>
              <a:ext cx="4002957" cy="480568"/>
            </a:xfrm>
            <a:prstGeom prst="rect">
              <a:avLst/>
            </a:prstGeom>
          </p:spPr>
          <p:txBody>
            <a:bodyPr anchor="t" rtlCol="false" tIns="0" lIns="0" bIns="0" rIns="0">
              <a:spAutoFit/>
            </a:bodyPr>
            <a:lstStyle/>
            <a:p>
              <a:pPr algn="l">
                <a:lnSpc>
                  <a:spcPts val="2591"/>
                </a:lnSpc>
              </a:pPr>
              <a:r>
                <a:rPr lang="en-US" sz="2399" spc="-103" b="true">
                  <a:solidFill>
                    <a:srgbClr val="44242D"/>
                  </a:solidFill>
                  <a:latin typeface="Telegraf Bold"/>
                  <a:ea typeface="Telegraf Bold"/>
                  <a:cs typeface="Telegraf Bold"/>
                  <a:sym typeface="Telegraf Bold"/>
                </a:rPr>
                <a:t>Doodle</a:t>
              </a:r>
            </a:p>
          </p:txBody>
        </p:sp>
      </p:grpSp>
      <p:sp>
        <p:nvSpPr>
          <p:cNvPr name="Freeform 5" id="5"/>
          <p:cNvSpPr/>
          <p:nvPr/>
        </p:nvSpPr>
        <p:spPr>
          <a:xfrm flipH="false" flipV="false" rot="0">
            <a:off x="1028700" y="3787079"/>
            <a:ext cx="5093320" cy="1341241"/>
          </a:xfrm>
          <a:custGeom>
            <a:avLst/>
            <a:gdLst/>
            <a:ahLst/>
            <a:cxnLst/>
            <a:rect r="r" b="b" t="t" l="l"/>
            <a:pathLst>
              <a:path h="1341241" w="5093320">
                <a:moveTo>
                  <a:pt x="0" y="0"/>
                </a:moveTo>
                <a:lnTo>
                  <a:pt x="5093320" y="0"/>
                </a:lnTo>
                <a:lnTo>
                  <a:pt x="5093320" y="1341241"/>
                </a:lnTo>
                <a:lnTo>
                  <a:pt x="0" y="1341241"/>
                </a:lnTo>
                <a:lnTo>
                  <a:pt x="0" y="0"/>
                </a:lnTo>
                <a:close/>
              </a:path>
            </a:pathLst>
          </a:custGeom>
          <a:blipFill>
            <a:blip r:embed="rId4"/>
            <a:stretch>
              <a:fillRect l="0" t="0" r="0" b="0"/>
            </a:stretch>
          </a:blipFill>
        </p:spPr>
      </p:sp>
      <p:sp>
        <p:nvSpPr>
          <p:cNvPr name="Freeform 6" id="6"/>
          <p:cNvSpPr/>
          <p:nvPr/>
        </p:nvSpPr>
        <p:spPr>
          <a:xfrm flipH="false" flipV="false" rot="0">
            <a:off x="1028700" y="5747445"/>
            <a:ext cx="5093320" cy="1341241"/>
          </a:xfrm>
          <a:custGeom>
            <a:avLst/>
            <a:gdLst/>
            <a:ahLst/>
            <a:cxnLst/>
            <a:rect r="r" b="b" t="t" l="l"/>
            <a:pathLst>
              <a:path h="1341241" w="5093320">
                <a:moveTo>
                  <a:pt x="0" y="0"/>
                </a:moveTo>
                <a:lnTo>
                  <a:pt x="5093320" y="0"/>
                </a:lnTo>
                <a:lnTo>
                  <a:pt x="5093320" y="1341241"/>
                </a:lnTo>
                <a:lnTo>
                  <a:pt x="0" y="1341241"/>
                </a:lnTo>
                <a:lnTo>
                  <a:pt x="0" y="0"/>
                </a:lnTo>
                <a:close/>
              </a:path>
            </a:pathLst>
          </a:custGeom>
          <a:blipFill>
            <a:blip r:embed="rId5"/>
            <a:stretch>
              <a:fillRect l="0" t="0" r="0" b="0"/>
            </a:stretch>
          </a:blipFill>
        </p:spPr>
      </p:sp>
      <p:sp>
        <p:nvSpPr>
          <p:cNvPr name="Freeform 7" id="7"/>
          <p:cNvSpPr/>
          <p:nvPr/>
        </p:nvSpPr>
        <p:spPr>
          <a:xfrm flipH="false" flipV="false" rot="0">
            <a:off x="6595837" y="3787079"/>
            <a:ext cx="5093320" cy="1341241"/>
          </a:xfrm>
          <a:custGeom>
            <a:avLst/>
            <a:gdLst/>
            <a:ahLst/>
            <a:cxnLst/>
            <a:rect r="r" b="b" t="t" l="l"/>
            <a:pathLst>
              <a:path h="1341241" w="5093320">
                <a:moveTo>
                  <a:pt x="0" y="0"/>
                </a:moveTo>
                <a:lnTo>
                  <a:pt x="5093320" y="0"/>
                </a:lnTo>
                <a:lnTo>
                  <a:pt x="5093320" y="1341241"/>
                </a:lnTo>
                <a:lnTo>
                  <a:pt x="0" y="1341241"/>
                </a:lnTo>
                <a:lnTo>
                  <a:pt x="0" y="0"/>
                </a:lnTo>
                <a:close/>
              </a:path>
            </a:pathLst>
          </a:custGeom>
          <a:blipFill>
            <a:blip r:embed="rId5"/>
            <a:stretch>
              <a:fillRect l="0" t="0" r="0" b="0"/>
            </a:stretch>
          </a:blipFill>
        </p:spPr>
      </p:sp>
      <p:sp>
        <p:nvSpPr>
          <p:cNvPr name="Freeform 8" id="8"/>
          <p:cNvSpPr/>
          <p:nvPr/>
        </p:nvSpPr>
        <p:spPr>
          <a:xfrm flipH="false" flipV="false" rot="0">
            <a:off x="6595837" y="5747445"/>
            <a:ext cx="5093320" cy="1341241"/>
          </a:xfrm>
          <a:custGeom>
            <a:avLst/>
            <a:gdLst/>
            <a:ahLst/>
            <a:cxnLst/>
            <a:rect r="r" b="b" t="t" l="l"/>
            <a:pathLst>
              <a:path h="1341241" w="5093320">
                <a:moveTo>
                  <a:pt x="0" y="0"/>
                </a:moveTo>
                <a:lnTo>
                  <a:pt x="5093320" y="0"/>
                </a:lnTo>
                <a:lnTo>
                  <a:pt x="5093320" y="1341241"/>
                </a:lnTo>
                <a:lnTo>
                  <a:pt x="0" y="1341241"/>
                </a:lnTo>
                <a:lnTo>
                  <a:pt x="0" y="0"/>
                </a:lnTo>
                <a:close/>
              </a:path>
            </a:pathLst>
          </a:custGeom>
          <a:blipFill>
            <a:blip r:embed="rId5"/>
            <a:stretch>
              <a:fillRect l="0" t="0" r="0" b="0"/>
            </a:stretch>
          </a:blipFill>
        </p:spPr>
      </p:sp>
      <p:sp>
        <p:nvSpPr>
          <p:cNvPr name="Freeform 9" id="9"/>
          <p:cNvSpPr/>
          <p:nvPr/>
        </p:nvSpPr>
        <p:spPr>
          <a:xfrm flipH="false" flipV="false" rot="0">
            <a:off x="12165980" y="3787079"/>
            <a:ext cx="5093320" cy="1341241"/>
          </a:xfrm>
          <a:custGeom>
            <a:avLst/>
            <a:gdLst/>
            <a:ahLst/>
            <a:cxnLst/>
            <a:rect r="r" b="b" t="t" l="l"/>
            <a:pathLst>
              <a:path h="1341241" w="5093320">
                <a:moveTo>
                  <a:pt x="0" y="0"/>
                </a:moveTo>
                <a:lnTo>
                  <a:pt x="5093320" y="0"/>
                </a:lnTo>
                <a:lnTo>
                  <a:pt x="5093320" y="1341241"/>
                </a:lnTo>
                <a:lnTo>
                  <a:pt x="0" y="1341241"/>
                </a:lnTo>
                <a:lnTo>
                  <a:pt x="0" y="0"/>
                </a:lnTo>
                <a:close/>
              </a:path>
            </a:pathLst>
          </a:custGeom>
          <a:blipFill>
            <a:blip r:embed="rId5"/>
            <a:stretch>
              <a:fillRect l="0" t="0" r="0" b="0"/>
            </a:stretch>
          </a:blipFill>
        </p:spPr>
      </p:sp>
      <p:sp>
        <p:nvSpPr>
          <p:cNvPr name="Freeform 10" id="10"/>
          <p:cNvSpPr/>
          <p:nvPr/>
        </p:nvSpPr>
        <p:spPr>
          <a:xfrm flipH="false" flipV="false" rot="0">
            <a:off x="12165980" y="5747445"/>
            <a:ext cx="5093320" cy="1341241"/>
          </a:xfrm>
          <a:custGeom>
            <a:avLst/>
            <a:gdLst/>
            <a:ahLst/>
            <a:cxnLst/>
            <a:rect r="r" b="b" t="t" l="l"/>
            <a:pathLst>
              <a:path h="1341241" w="5093320">
                <a:moveTo>
                  <a:pt x="0" y="0"/>
                </a:moveTo>
                <a:lnTo>
                  <a:pt x="5093320" y="0"/>
                </a:lnTo>
                <a:lnTo>
                  <a:pt x="5093320" y="1341241"/>
                </a:lnTo>
                <a:lnTo>
                  <a:pt x="0" y="1341241"/>
                </a:lnTo>
                <a:lnTo>
                  <a:pt x="0" y="0"/>
                </a:lnTo>
                <a:close/>
              </a:path>
            </a:pathLst>
          </a:custGeom>
          <a:blipFill>
            <a:blip r:embed="rId5"/>
            <a:stretch>
              <a:fillRect l="0" t="0" r="0" b="0"/>
            </a:stretch>
          </a:blipFill>
        </p:spPr>
      </p:sp>
      <p:sp>
        <p:nvSpPr>
          <p:cNvPr name="Freeform 11" id="11"/>
          <p:cNvSpPr/>
          <p:nvPr/>
        </p:nvSpPr>
        <p:spPr>
          <a:xfrm flipH="false" flipV="false" rot="0">
            <a:off x="1237103" y="4010330"/>
            <a:ext cx="894740" cy="894740"/>
          </a:xfrm>
          <a:custGeom>
            <a:avLst/>
            <a:gdLst/>
            <a:ahLst/>
            <a:cxnLst/>
            <a:rect r="r" b="b" t="t" l="l"/>
            <a:pathLst>
              <a:path h="894740" w="894740">
                <a:moveTo>
                  <a:pt x="0" y="0"/>
                </a:moveTo>
                <a:lnTo>
                  <a:pt x="894740" y="0"/>
                </a:lnTo>
                <a:lnTo>
                  <a:pt x="894740" y="894740"/>
                </a:lnTo>
                <a:lnTo>
                  <a:pt x="0" y="8947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6982239" y="4139075"/>
            <a:ext cx="538741" cy="637249"/>
          </a:xfrm>
          <a:custGeom>
            <a:avLst/>
            <a:gdLst/>
            <a:ahLst/>
            <a:cxnLst/>
            <a:rect r="r" b="b" t="t" l="l"/>
            <a:pathLst>
              <a:path h="637249" w="538741">
                <a:moveTo>
                  <a:pt x="0" y="0"/>
                </a:moveTo>
                <a:lnTo>
                  <a:pt x="538741" y="0"/>
                </a:lnTo>
                <a:lnTo>
                  <a:pt x="538741" y="637249"/>
                </a:lnTo>
                <a:lnTo>
                  <a:pt x="0" y="6372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2414368" y="4050315"/>
            <a:ext cx="814769" cy="814769"/>
          </a:xfrm>
          <a:custGeom>
            <a:avLst/>
            <a:gdLst/>
            <a:ahLst/>
            <a:cxnLst/>
            <a:rect r="r" b="b" t="t" l="l"/>
            <a:pathLst>
              <a:path h="814769" w="814769">
                <a:moveTo>
                  <a:pt x="0" y="0"/>
                </a:moveTo>
                <a:lnTo>
                  <a:pt x="814769" y="0"/>
                </a:lnTo>
                <a:lnTo>
                  <a:pt x="814769" y="814769"/>
                </a:lnTo>
                <a:lnTo>
                  <a:pt x="0" y="814769"/>
                </a:lnTo>
                <a:lnTo>
                  <a:pt x="0" y="0"/>
                </a:lnTo>
                <a:close/>
              </a:path>
            </a:pathLst>
          </a:custGeom>
          <a:blipFill>
            <a:blip r:embed="rId10"/>
            <a:stretch>
              <a:fillRect l="0" t="0" r="0" b="0"/>
            </a:stretch>
          </a:blipFill>
        </p:spPr>
      </p:sp>
      <p:sp>
        <p:nvSpPr>
          <p:cNvPr name="Freeform 14" id="14"/>
          <p:cNvSpPr/>
          <p:nvPr/>
        </p:nvSpPr>
        <p:spPr>
          <a:xfrm flipH="false" flipV="false" rot="0">
            <a:off x="1394331" y="6110263"/>
            <a:ext cx="580284" cy="615605"/>
          </a:xfrm>
          <a:custGeom>
            <a:avLst/>
            <a:gdLst/>
            <a:ahLst/>
            <a:cxnLst/>
            <a:rect r="r" b="b" t="t" l="l"/>
            <a:pathLst>
              <a:path h="615605" w="580284">
                <a:moveTo>
                  <a:pt x="0" y="0"/>
                </a:moveTo>
                <a:lnTo>
                  <a:pt x="580284" y="0"/>
                </a:lnTo>
                <a:lnTo>
                  <a:pt x="580284" y="615605"/>
                </a:lnTo>
                <a:lnTo>
                  <a:pt x="0" y="615605"/>
                </a:lnTo>
                <a:lnTo>
                  <a:pt x="0" y="0"/>
                </a:lnTo>
                <a:close/>
              </a:path>
            </a:pathLst>
          </a:custGeom>
          <a:blipFill>
            <a:blip r:embed="rId11"/>
            <a:stretch>
              <a:fillRect l="-36521" t="-31967" r="-37391" b="-31967"/>
            </a:stretch>
          </a:blipFill>
        </p:spPr>
      </p:sp>
      <p:sp>
        <p:nvSpPr>
          <p:cNvPr name="Freeform 15" id="15"/>
          <p:cNvSpPr/>
          <p:nvPr/>
        </p:nvSpPr>
        <p:spPr>
          <a:xfrm flipH="false" flipV="false" rot="0">
            <a:off x="6852834" y="6203974"/>
            <a:ext cx="797551" cy="444538"/>
          </a:xfrm>
          <a:custGeom>
            <a:avLst/>
            <a:gdLst/>
            <a:ahLst/>
            <a:cxnLst/>
            <a:rect r="r" b="b" t="t" l="l"/>
            <a:pathLst>
              <a:path h="444538" w="797551">
                <a:moveTo>
                  <a:pt x="0" y="0"/>
                </a:moveTo>
                <a:lnTo>
                  <a:pt x="797551" y="0"/>
                </a:lnTo>
                <a:lnTo>
                  <a:pt x="797551" y="444538"/>
                </a:lnTo>
                <a:lnTo>
                  <a:pt x="0" y="444538"/>
                </a:lnTo>
                <a:lnTo>
                  <a:pt x="0" y="0"/>
                </a:lnTo>
                <a:close/>
              </a:path>
            </a:pathLst>
          </a:custGeom>
          <a:blipFill>
            <a:blip r:embed="rId12"/>
            <a:stretch>
              <a:fillRect l="0" t="0" r="-262522" b="0"/>
            </a:stretch>
          </a:blipFill>
        </p:spPr>
      </p:sp>
      <p:sp>
        <p:nvSpPr>
          <p:cNvPr name="Freeform 16" id="16"/>
          <p:cNvSpPr/>
          <p:nvPr/>
        </p:nvSpPr>
        <p:spPr>
          <a:xfrm flipH="false" flipV="false" rot="0">
            <a:off x="12311979" y="5916469"/>
            <a:ext cx="1019547" cy="1019547"/>
          </a:xfrm>
          <a:custGeom>
            <a:avLst/>
            <a:gdLst/>
            <a:ahLst/>
            <a:cxnLst/>
            <a:rect r="r" b="b" t="t" l="l"/>
            <a:pathLst>
              <a:path h="1019547" w="1019547">
                <a:moveTo>
                  <a:pt x="0" y="0"/>
                </a:moveTo>
                <a:lnTo>
                  <a:pt x="1019547" y="0"/>
                </a:lnTo>
                <a:lnTo>
                  <a:pt x="1019547" y="1019547"/>
                </a:lnTo>
                <a:lnTo>
                  <a:pt x="0" y="1019547"/>
                </a:lnTo>
                <a:lnTo>
                  <a:pt x="0" y="0"/>
                </a:lnTo>
                <a:close/>
              </a:path>
            </a:pathLst>
          </a:custGeom>
          <a:blipFill>
            <a:blip r:embed="rId13"/>
            <a:stretch>
              <a:fillRect l="0" t="0" r="0" b="0"/>
            </a:stretch>
          </a:blipFill>
        </p:spPr>
      </p:sp>
      <p:sp>
        <p:nvSpPr>
          <p:cNvPr name="TextBox 17" id="17"/>
          <p:cNvSpPr txBox="true"/>
          <p:nvPr/>
        </p:nvSpPr>
        <p:spPr>
          <a:xfrm rot="0">
            <a:off x="3865527" y="590550"/>
            <a:ext cx="11536125" cy="1123950"/>
          </a:xfrm>
          <a:prstGeom prst="rect">
            <a:avLst/>
          </a:prstGeom>
        </p:spPr>
        <p:txBody>
          <a:bodyPr anchor="t" rtlCol="false" tIns="0" lIns="0" bIns="0" rIns="0">
            <a:spAutoFit/>
          </a:bodyPr>
          <a:lstStyle/>
          <a:p>
            <a:pPr algn="ctr" marL="0" indent="0" lvl="1">
              <a:lnSpc>
                <a:spcPts val="8100"/>
              </a:lnSpc>
              <a:spcBef>
                <a:spcPct val="0"/>
              </a:spcBef>
            </a:pPr>
            <a:r>
              <a:rPr lang="en-US" b="true" sz="9000" spc="-450">
                <a:solidFill>
                  <a:srgbClr val="000000"/>
                </a:solidFill>
                <a:latin typeface="DM Sans Bold"/>
                <a:ea typeface="DM Sans Bold"/>
                <a:cs typeface="DM Sans Bold"/>
                <a:sym typeface="DM Sans Bold"/>
              </a:rPr>
              <a:t>Potential Data Sources</a:t>
            </a:r>
          </a:p>
        </p:txBody>
      </p:sp>
      <p:sp>
        <p:nvSpPr>
          <p:cNvPr name="TextBox 18" id="18"/>
          <p:cNvSpPr txBox="true"/>
          <p:nvPr/>
        </p:nvSpPr>
        <p:spPr>
          <a:xfrm rot="0">
            <a:off x="2462415" y="4216921"/>
            <a:ext cx="2984558" cy="423675"/>
          </a:xfrm>
          <a:prstGeom prst="rect">
            <a:avLst/>
          </a:prstGeom>
        </p:spPr>
        <p:txBody>
          <a:bodyPr anchor="t" rtlCol="false" tIns="0" lIns="0" bIns="0" rIns="0">
            <a:spAutoFit/>
          </a:bodyPr>
          <a:lstStyle/>
          <a:p>
            <a:pPr algn="ctr">
              <a:lnSpc>
                <a:spcPts val="3422"/>
              </a:lnSpc>
              <a:spcBef>
                <a:spcPct val="0"/>
              </a:spcBef>
            </a:pPr>
            <a:r>
              <a:rPr lang="en-US" b="true" sz="2444">
                <a:solidFill>
                  <a:srgbClr val="FFFFFF"/>
                </a:solidFill>
                <a:latin typeface="Cy Grotesk Key Semi-Bold"/>
                <a:ea typeface="Cy Grotesk Key Semi-Bold"/>
                <a:cs typeface="Cy Grotesk Key Semi-Bold"/>
                <a:sym typeface="Cy Grotesk Key Semi-Bold"/>
              </a:rPr>
              <a:t>Github</a:t>
            </a:r>
          </a:p>
        </p:txBody>
      </p:sp>
      <p:sp>
        <p:nvSpPr>
          <p:cNvPr name="TextBox 19" id="19"/>
          <p:cNvSpPr txBox="true"/>
          <p:nvPr/>
        </p:nvSpPr>
        <p:spPr>
          <a:xfrm rot="0">
            <a:off x="2462415" y="6177287"/>
            <a:ext cx="2984558" cy="423675"/>
          </a:xfrm>
          <a:prstGeom prst="rect">
            <a:avLst/>
          </a:prstGeom>
        </p:spPr>
        <p:txBody>
          <a:bodyPr anchor="t" rtlCol="false" tIns="0" lIns="0" bIns="0" rIns="0">
            <a:spAutoFit/>
          </a:bodyPr>
          <a:lstStyle/>
          <a:p>
            <a:pPr algn="ctr">
              <a:lnSpc>
                <a:spcPts val="3422"/>
              </a:lnSpc>
              <a:spcBef>
                <a:spcPct val="0"/>
              </a:spcBef>
            </a:pPr>
            <a:r>
              <a:rPr lang="en-US" b="true" sz="2444">
                <a:solidFill>
                  <a:srgbClr val="FFFFFF"/>
                </a:solidFill>
                <a:latin typeface="Cy Grotesk Key Semi-Bold"/>
                <a:ea typeface="Cy Grotesk Key Semi-Bold"/>
                <a:cs typeface="Cy Grotesk Key Semi-Bold"/>
                <a:sym typeface="Cy Grotesk Key Semi-Bold"/>
              </a:rPr>
              <a:t>Glassdoor</a:t>
            </a:r>
          </a:p>
        </p:txBody>
      </p:sp>
      <p:sp>
        <p:nvSpPr>
          <p:cNvPr name="TextBox 20" id="20"/>
          <p:cNvSpPr txBox="true"/>
          <p:nvPr/>
        </p:nvSpPr>
        <p:spPr>
          <a:xfrm rot="0">
            <a:off x="8029552" y="4216921"/>
            <a:ext cx="2984558" cy="423675"/>
          </a:xfrm>
          <a:prstGeom prst="rect">
            <a:avLst/>
          </a:prstGeom>
        </p:spPr>
        <p:txBody>
          <a:bodyPr anchor="t" rtlCol="false" tIns="0" lIns="0" bIns="0" rIns="0">
            <a:spAutoFit/>
          </a:bodyPr>
          <a:lstStyle/>
          <a:p>
            <a:pPr algn="ctr">
              <a:lnSpc>
                <a:spcPts val="3422"/>
              </a:lnSpc>
              <a:spcBef>
                <a:spcPct val="0"/>
              </a:spcBef>
            </a:pPr>
            <a:r>
              <a:rPr lang="en-US" b="true" sz="2444">
                <a:solidFill>
                  <a:srgbClr val="FFFFFF"/>
                </a:solidFill>
                <a:latin typeface="Cy Grotesk Key Semi-Bold"/>
                <a:ea typeface="Cy Grotesk Key Semi-Bold"/>
                <a:cs typeface="Cy Grotesk Key Semi-Bold"/>
                <a:sym typeface="Cy Grotesk Key Semi-Bold"/>
              </a:rPr>
              <a:t>Stack Overflow</a:t>
            </a:r>
          </a:p>
        </p:txBody>
      </p:sp>
      <p:sp>
        <p:nvSpPr>
          <p:cNvPr name="TextBox 21" id="21"/>
          <p:cNvSpPr txBox="true"/>
          <p:nvPr/>
        </p:nvSpPr>
        <p:spPr>
          <a:xfrm rot="0">
            <a:off x="7900302" y="6146824"/>
            <a:ext cx="2984558" cy="423675"/>
          </a:xfrm>
          <a:prstGeom prst="rect">
            <a:avLst/>
          </a:prstGeom>
        </p:spPr>
        <p:txBody>
          <a:bodyPr anchor="t" rtlCol="false" tIns="0" lIns="0" bIns="0" rIns="0">
            <a:spAutoFit/>
          </a:bodyPr>
          <a:lstStyle/>
          <a:p>
            <a:pPr algn="ctr">
              <a:lnSpc>
                <a:spcPts val="3422"/>
              </a:lnSpc>
              <a:spcBef>
                <a:spcPct val="0"/>
              </a:spcBef>
            </a:pPr>
            <a:r>
              <a:rPr lang="en-US" b="true" sz="2444">
                <a:solidFill>
                  <a:srgbClr val="FFFFFF"/>
                </a:solidFill>
                <a:latin typeface="Cy Grotesk Key Semi-Bold"/>
                <a:ea typeface="Cy Grotesk Key Semi-Bold"/>
                <a:cs typeface="Cy Grotesk Key Semi-Bold"/>
                <a:sym typeface="Cy Grotesk Key Semi-Bold"/>
              </a:rPr>
              <a:t>Medium</a:t>
            </a:r>
          </a:p>
        </p:txBody>
      </p:sp>
      <p:sp>
        <p:nvSpPr>
          <p:cNvPr name="TextBox 22" id="22"/>
          <p:cNvSpPr txBox="true"/>
          <p:nvPr/>
        </p:nvSpPr>
        <p:spPr>
          <a:xfrm rot="0">
            <a:off x="13599695" y="4216921"/>
            <a:ext cx="2984558" cy="423675"/>
          </a:xfrm>
          <a:prstGeom prst="rect">
            <a:avLst/>
          </a:prstGeom>
        </p:spPr>
        <p:txBody>
          <a:bodyPr anchor="t" rtlCol="false" tIns="0" lIns="0" bIns="0" rIns="0">
            <a:spAutoFit/>
          </a:bodyPr>
          <a:lstStyle/>
          <a:p>
            <a:pPr algn="ctr">
              <a:lnSpc>
                <a:spcPts val="3422"/>
              </a:lnSpc>
              <a:spcBef>
                <a:spcPct val="0"/>
              </a:spcBef>
            </a:pPr>
            <a:r>
              <a:rPr lang="en-US" b="true" sz="2444">
                <a:solidFill>
                  <a:srgbClr val="FFFFFF"/>
                </a:solidFill>
                <a:latin typeface="Cy Grotesk Key Semi-Bold"/>
                <a:ea typeface="Cy Grotesk Key Semi-Bold"/>
                <a:cs typeface="Cy Grotesk Key Semi-Bold"/>
                <a:sym typeface="Cy Grotesk Key Semi-Bold"/>
              </a:rPr>
              <a:t>Linkdin</a:t>
            </a:r>
          </a:p>
        </p:txBody>
      </p:sp>
      <p:sp>
        <p:nvSpPr>
          <p:cNvPr name="TextBox 23" id="23"/>
          <p:cNvSpPr txBox="true"/>
          <p:nvPr/>
        </p:nvSpPr>
        <p:spPr>
          <a:xfrm rot="0">
            <a:off x="13599695" y="6177287"/>
            <a:ext cx="2984558" cy="423675"/>
          </a:xfrm>
          <a:prstGeom prst="rect">
            <a:avLst/>
          </a:prstGeom>
        </p:spPr>
        <p:txBody>
          <a:bodyPr anchor="t" rtlCol="false" tIns="0" lIns="0" bIns="0" rIns="0">
            <a:spAutoFit/>
          </a:bodyPr>
          <a:lstStyle/>
          <a:p>
            <a:pPr algn="ctr">
              <a:lnSpc>
                <a:spcPts val="3422"/>
              </a:lnSpc>
              <a:spcBef>
                <a:spcPct val="0"/>
              </a:spcBef>
            </a:pPr>
            <a:r>
              <a:rPr lang="en-US" b="true" sz="2444">
                <a:solidFill>
                  <a:srgbClr val="FFFFFF"/>
                </a:solidFill>
                <a:latin typeface="Cy Grotesk Key Semi-Bold"/>
                <a:ea typeface="Cy Grotesk Key Semi-Bold"/>
                <a:cs typeface="Cy Grotesk Key Semi-Bold"/>
                <a:sym typeface="Cy Grotesk Key Semi-Bold"/>
              </a:rPr>
              <a:t>Leetcode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36930" y="6122754"/>
            <a:ext cx="194631" cy="627843"/>
          </a:xfrm>
          <a:custGeom>
            <a:avLst/>
            <a:gdLst/>
            <a:ahLst/>
            <a:cxnLst/>
            <a:rect r="r" b="b" t="t" l="l"/>
            <a:pathLst>
              <a:path h="627843" w="194631">
                <a:moveTo>
                  <a:pt x="0" y="0"/>
                </a:moveTo>
                <a:lnTo>
                  <a:pt x="194631" y="0"/>
                </a:lnTo>
                <a:lnTo>
                  <a:pt x="194631" y="627843"/>
                </a:lnTo>
                <a:lnTo>
                  <a:pt x="0" y="6278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05658" y="2501791"/>
            <a:ext cx="2087934" cy="2087934"/>
          </a:xfrm>
          <a:custGeom>
            <a:avLst/>
            <a:gdLst/>
            <a:ahLst/>
            <a:cxnLst/>
            <a:rect r="r" b="b" t="t" l="l"/>
            <a:pathLst>
              <a:path h="2087934" w="2087934">
                <a:moveTo>
                  <a:pt x="0" y="0"/>
                </a:moveTo>
                <a:lnTo>
                  <a:pt x="2087934" y="0"/>
                </a:lnTo>
                <a:lnTo>
                  <a:pt x="2087934" y="2087934"/>
                </a:lnTo>
                <a:lnTo>
                  <a:pt x="0" y="2087934"/>
                </a:lnTo>
                <a:lnTo>
                  <a:pt x="0"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10079" y="4971220"/>
            <a:ext cx="2356409" cy="2356409"/>
          </a:xfrm>
          <a:custGeom>
            <a:avLst/>
            <a:gdLst/>
            <a:ahLst/>
            <a:cxnLst/>
            <a:rect r="r" b="b" t="t" l="l"/>
            <a:pathLst>
              <a:path h="2356409" w="2356409">
                <a:moveTo>
                  <a:pt x="0" y="0"/>
                </a:moveTo>
                <a:lnTo>
                  <a:pt x="2356409" y="0"/>
                </a:lnTo>
                <a:lnTo>
                  <a:pt x="2356409" y="2356408"/>
                </a:lnTo>
                <a:lnTo>
                  <a:pt x="0" y="2356408"/>
                </a:lnTo>
                <a:lnTo>
                  <a:pt x="0"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58791" y="1145206"/>
            <a:ext cx="658986" cy="658986"/>
          </a:xfrm>
          <a:custGeom>
            <a:avLst/>
            <a:gdLst/>
            <a:ahLst/>
            <a:cxnLst/>
            <a:rect r="r" b="b" t="t" l="l"/>
            <a:pathLst>
              <a:path h="658986" w="658986">
                <a:moveTo>
                  <a:pt x="0" y="0"/>
                </a:moveTo>
                <a:lnTo>
                  <a:pt x="658985" y="0"/>
                </a:lnTo>
                <a:lnTo>
                  <a:pt x="658985" y="658985"/>
                </a:lnTo>
                <a:lnTo>
                  <a:pt x="0" y="658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822911" y="1310297"/>
            <a:ext cx="3002218" cy="360426"/>
          </a:xfrm>
          <a:prstGeom prst="rect">
            <a:avLst/>
          </a:prstGeom>
        </p:spPr>
        <p:txBody>
          <a:bodyPr anchor="t" rtlCol="false" tIns="0" lIns="0" bIns="0" rIns="0">
            <a:spAutoFit/>
          </a:bodyPr>
          <a:lstStyle/>
          <a:p>
            <a:pPr algn="l">
              <a:lnSpc>
                <a:spcPts val="2591"/>
              </a:lnSpc>
            </a:pPr>
            <a:r>
              <a:rPr lang="en-US" sz="2399" spc="-103" b="true">
                <a:solidFill>
                  <a:srgbClr val="44242D"/>
                </a:solidFill>
                <a:latin typeface="Telegraf Bold"/>
                <a:ea typeface="Telegraf Bold"/>
                <a:cs typeface="Telegraf Bold"/>
                <a:sym typeface="Telegraf Bold"/>
              </a:rPr>
              <a:t>Doodle</a:t>
            </a:r>
          </a:p>
        </p:txBody>
      </p:sp>
      <p:sp>
        <p:nvSpPr>
          <p:cNvPr name="Freeform 7" id="7"/>
          <p:cNvSpPr/>
          <p:nvPr/>
        </p:nvSpPr>
        <p:spPr>
          <a:xfrm flipH="false" flipV="false" rot="1856259">
            <a:off x="16086701" y="1751427"/>
            <a:ext cx="1814415" cy="1451532"/>
          </a:xfrm>
          <a:custGeom>
            <a:avLst/>
            <a:gdLst/>
            <a:ahLst/>
            <a:cxnLst/>
            <a:rect r="r" b="b" t="t" l="l"/>
            <a:pathLst>
              <a:path h="1451532" w="1814415">
                <a:moveTo>
                  <a:pt x="0" y="0"/>
                </a:moveTo>
                <a:lnTo>
                  <a:pt x="1814415" y="0"/>
                </a:lnTo>
                <a:lnTo>
                  <a:pt x="1814415" y="1451531"/>
                </a:lnTo>
                <a:lnTo>
                  <a:pt x="0" y="14515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3296528">
            <a:off x="15782846" y="8333406"/>
            <a:ext cx="2820865" cy="1867120"/>
          </a:xfrm>
          <a:custGeom>
            <a:avLst/>
            <a:gdLst/>
            <a:ahLst/>
            <a:cxnLst/>
            <a:rect r="r" b="b" t="t" l="l"/>
            <a:pathLst>
              <a:path h="1867120" w="2820865">
                <a:moveTo>
                  <a:pt x="2820865" y="1867120"/>
                </a:moveTo>
                <a:lnTo>
                  <a:pt x="0" y="1867120"/>
                </a:lnTo>
                <a:lnTo>
                  <a:pt x="0" y="0"/>
                </a:lnTo>
                <a:lnTo>
                  <a:pt x="2820865" y="0"/>
                </a:lnTo>
                <a:lnTo>
                  <a:pt x="2820865" y="186712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4443951">
            <a:off x="785720" y="5060235"/>
            <a:ext cx="1523664" cy="1446095"/>
          </a:xfrm>
          <a:custGeom>
            <a:avLst/>
            <a:gdLst/>
            <a:ahLst/>
            <a:cxnLst/>
            <a:rect r="r" b="b" t="t" l="l"/>
            <a:pathLst>
              <a:path h="1446095" w="1523664">
                <a:moveTo>
                  <a:pt x="0" y="0"/>
                </a:moveTo>
                <a:lnTo>
                  <a:pt x="1523664" y="0"/>
                </a:lnTo>
                <a:lnTo>
                  <a:pt x="1523664" y="1446095"/>
                </a:lnTo>
                <a:lnTo>
                  <a:pt x="0" y="14460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5841282" y="-1187959"/>
            <a:ext cx="5707640" cy="3626730"/>
          </a:xfrm>
          <a:custGeom>
            <a:avLst/>
            <a:gdLst/>
            <a:ahLst/>
            <a:cxnLst/>
            <a:rect r="r" b="b" t="t" l="l"/>
            <a:pathLst>
              <a:path h="3626730" w="5707640">
                <a:moveTo>
                  <a:pt x="0" y="0"/>
                </a:moveTo>
                <a:lnTo>
                  <a:pt x="5707640" y="0"/>
                </a:lnTo>
                <a:lnTo>
                  <a:pt x="5707640" y="3626730"/>
                </a:lnTo>
                <a:lnTo>
                  <a:pt x="0" y="3626730"/>
                </a:lnTo>
                <a:lnTo>
                  <a:pt x="0" y="0"/>
                </a:lnTo>
                <a:close/>
              </a:path>
            </a:pathLst>
          </a:custGeom>
          <a:blipFill>
            <a:blip r:embed="rId14">
              <a:alphaModFix amt="63000"/>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3690923">
            <a:off x="6149314" y="7528355"/>
            <a:ext cx="4832420" cy="5007689"/>
          </a:xfrm>
          <a:custGeom>
            <a:avLst/>
            <a:gdLst/>
            <a:ahLst/>
            <a:cxnLst/>
            <a:rect r="r" b="b" t="t" l="l"/>
            <a:pathLst>
              <a:path h="5007689" w="4832420">
                <a:moveTo>
                  <a:pt x="0" y="0"/>
                </a:moveTo>
                <a:lnTo>
                  <a:pt x="4832420" y="0"/>
                </a:lnTo>
                <a:lnTo>
                  <a:pt x="4832420" y="5007689"/>
                </a:lnTo>
                <a:lnTo>
                  <a:pt x="0" y="5007689"/>
                </a:lnTo>
                <a:lnTo>
                  <a:pt x="0" y="0"/>
                </a:lnTo>
                <a:close/>
              </a:path>
            </a:pathLst>
          </a:custGeom>
          <a:blipFill>
            <a:blip r:embed="rId16">
              <a:alphaModFix amt="75000"/>
              <a:extLst>
                <a:ext uri="{96DAC541-7B7A-43D3-8B79-37D633B846F1}">
                  <asvg:svgBlip xmlns:asvg="http://schemas.microsoft.com/office/drawing/2016/SVG/main" r:embed="rId17"/>
                </a:ext>
              </a:extLst>
            </a:blip>
            <a:stretch>
              <a:fillRect l="0" t="0" r="0" b="0"/>
            </a:stretch>
          </a:blipFill>
        </p:spPr>
      </p:sp>
      <p:sp>
        <p:nvSpPr>
          <p:cNvPr name="TextBox 12" id="12"/>
          <p:cNvSpPr txBox="true"/>
          <p:nvPr/>
        </p:nvSpPr>
        <p:spPr>
          <a:xfrm rot="0">
            <a:off x="5600601" y="4705350"/>
            <a:ext cx="6902316" cy="1123950"/>
          </a:xfrm>
          <a:prstGeom prst="rect">
            <a:avLst/>
          </a:prstGeom>
        </p:spPr>
        <p:txBody>
          <a:bodyPr anchor="t" rtlCol="false" tIns="0" lIns="0" bIns="0" rIns="0">
            <a:spAutoFit/>
          </a:bodyPr>
          <a:lstStyle/>
          <a:p>
            <a:pPr algn="ctr" marL="0" indent="0" lvl="1">
              <a:lnSpc>
                <a:spcPts val="8100"/>
              </a:lnSpc>
              <a:spcBef>
                <a:spcPct val="0"/>
              </a:spcBef>
            </a:pPr>
            <a:r>
              <a:rPr lang="en-US" b="true" sz="9000" spc="-450">
                <a:solidFill>
                  <a:srgbClr val="000000"/>
                </a:solidFill>
                <a:latin typeface="DM Sans Bold"/>
                <a:ea typeface="DM Sans Bold"/>
                <a:cs typeface="DM Sans Bold"/>
                <a:sym typeface="DM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DAGp3vMWNQA</dc:identifier>
  <dcterms:modified xsi:type="dcterms:W3CDTF">2011-08-01T06:04:30Z</dcterms:modified>
  <cp:revision>1</cp:revision>
  <dc:title>user persona python deck</dc:title>
</cp:coreProperties>
</file>